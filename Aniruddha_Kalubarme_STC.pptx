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5"/>
  </p:notesMasterIdLst>
  <p:handoutMasterIdLst>
    <p:handoutMasterId r:id="rId16"/>
  </p:handout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0066FF"/>
    <a:srgbClr val="00FF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471" autoAdjust="0"/>
    <p:restoredTop sz="94660"/>
  </p:normalViewPr>
  <p:slideViewPr>
    <p:cSldViewPr snapToGrid="0">
      <p:cViewPr varScale="1">
        <p:scale>
          <a:sx n="65" d="100"/>
          <a:sy n="65" d="100"/>
        </p:scale>
        <p:origin x="1012" y="6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handoutMaster" Target="handoutMasters/handout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3630DED-3FCA-4494-8EF0-BA6A869B630F}" type="datetimeFigureOut">
              <a:rPr lang="en-US" smtClean="0"/>
              <a:t>10/10/2025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8B07B830-2464-4267-BF3A-7C7A6808C588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6815055"/>
      </p:ext>
    </p:extLst>
  </p:cSld>
  <p:clrMap bg1="lt1" tx1="dk1" bg2="lt2" tx2="dk2" accent1="accent1" accent2="accent2" accent3="accent3" accent4="accent4" accent5="accent5" accent6="accent6" hlink="hlink" folHlink="folHlink"/>
  <p:hf hdr="0" ftr="0" dt="0"/>
</p:handoutMaster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10T11:10:43.468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1 0,'25718'0,"-25686"0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10T11:11:00.232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1 0,'25546'0,"-25523"0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10T11:11:56.606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1 1,'25806'0,"-25784"0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10T11:12:21.661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1 1,'0'11336,"0"-11309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10T11:12:41.802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1 111,'0'-111,"0"112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10T11:13:03.670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1 1,'0'4667,"0"-5102,0 34,0-1219,0 10925,0-9272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</inkml:traceFormat>
        <inkml:channelProperties>
          <inkml:channelProperty channel="X" name="resolution" value="1000" units="1/cm"/>
          <inkml:channelProperty channel="Y" name="resolution" value="1000" units="1/cm"/>
        </inkml:channelProperties>
      </inkml:inkSource>
      <inkml:timestamp xml:id="ts0" timeString="2025-10-10T11:13:28.744"/>
    </inkml:context>
    <inkml:brush xml:id="br0">
      <inkml:brushProperty name="width" value="0.035" units="cm"/>
      <inkml:brushProperty name="height" value="0.035" units="cm"/>
      <inkml:brushProperty name="ignorePressure" value="1"/>
    </inkml:brush>
  </inkml:definitions>
  <inkml:trace contextRef="#ctx0" brushRef="#br0">0 0,'0'0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E1C2C44-125A-4630-B882-008C4B26D29A}" type="datetimeFigureOut">
              <a:rPr lang="en-US" smtClean="0"/>
              <a:t>10/10/2025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F275916-D48A-4C31-90D0-74221599E1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9107765"/>
      </p:ext>
    </p:extLst>
  </p:cSld>
  <p:clrMap bg1="lt1" tx1="dk1" bg2="lt2" tx2="dk2" accent1="accent1" accent2="accent2" accent3="accent3" accent4="accent4" accent5="accent5" accent6="accent6" hlink="hlink" folHlink="folHlink"/>
  <p:hf hdr="0" ftr="0" dt="0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:notes"/>
          <p:cNvSpPr txBox="1">
            <a:spLocks noGrp="1"/>
          </p:cNvSpPr>
          <p:nvPr>
            <p:ph type="body" idx="1"/>
          </p:nvPr>
        </p:nvSpPr>
        <p:spPr>
          <a:xfrm>
            <a:off x="914400" y="3257550"/>
            <a:ext cx="7315200" cy="3086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42" name="Google Shape;42;p1:notes"/>
          <p:cNvSpPr>
            <a:spLocks noGrp="1" noRot="1" noChangeAspect="1"/>
          </p:cNvSpPr>
          <p:nvPr>
            <p:ph type="sldImg" idx="2"/>
          </p:nvPr>
        </p:nvSpPr>
        <p:spPr>
          <a:xfrm>
            <a:off x="2286000" y="514350"/>
            <a:ext cx="4572000" cy="257175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76284976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4E490CD-C2D6-44C5-8E77-27634422FF14}" type="datetime1">
              <a:rPr lang="en-US" smtClean="0"/>
              <a:t>10/10/2025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78305166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0C713FF-B9AB-4341-A258-AC11B9A4A252}" type="datetime1">
              <a:rPr lang="en-US" smtClean="0"/>
              <a:t>10/10/2025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1020449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C261EEF-8F19-42A5-9456-884C5BF49E6B}" type="datetime1">
              <a:rPr lang="en-US" smtClean="0"/>
              <a:t>10/10/2025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932567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F425D20-BDC4-455F-9FF5-A29B8EE7BEF2}" type="datetime1">
              <a:rPr lang="en-US" smtClean="0"/>
              <a:t>10/10/2025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4851862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BFEFCEF-08DC-432D-8619-71EBE9C0A37E}" type="datetime1">
              <a:rPr lang="en-US" smtClean="0"/>
              <a:t>10/10/2025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586673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A45042D-5FE6-4324-9537-21848E98AC24}" type="datetime1">
              <a:rPr lang="en-US" smtClean="0"/>
              <a:t>10/10/2025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5110348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AC0979-E5ED-4DD0-9804-0DD961A86926}" type="datetime1">
              <a:rPr lang="en-US" smtClean="0"/>
              <a:t>10/10/2025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4745563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D3BA3E-F44F-4FB8-836A-B52D2C5D73F9}" type="datetime1">
              <a:rPr lang="en-US" smtClean="0"/>
              <a:t>10/10/2025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224663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E2E7D7-D54B-407F-8E47-C89E07DB8830}" type="datetime1">
              <a:rPr lang="en-US" smtClean="0"/>
              <a:t>10/10/2025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991716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ED8E3E5-01A7-4DF4-B5C6-065DA1A1B0B7}" type="datetime1">
              <a:rPr lang="en-US" smtClean="0"/>
              <a:t>10/10/2025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21796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7F8826-BFE4-408F-B103-3A03FD5343BB}" type="datetime1">
              <a:rPr lang="en-US" smtClean="0"/>
              <a:t>10/10/2025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3108542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B3BA893-EECE-4B63-B211-C8C27D19E757}" type="datetime1">
              <a:rPr lang="en-US" smtClean="0"/>
              <a:t>10/10/2025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693619D-74A4-489F-B67E-0DFC94E90F31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32665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jpe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2.jpe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2.jpe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7.png"/><Relationship Id="rId5" Type="http://schemas.openxmlformats.org/officeDocument/2006/relationships/image" Target="../media/image6.png"/><Relationship Id="rId4" Type="http://schemas.openxmlformats.org/officeDocument/2006/relationships/image" Target="../media/image2.jpe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8.png"/><Relationship Id="rId5" Type="http://schemas.openxmlformats.org/officeDocument/2006/relationships/image" Target="../media/image6.png"/><Relationship Id="rId4" Type="http://schemas.openxmlformats.org/officeDocument/2006/relationships/image" Target="../media/image2.jpe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customXml" Target="../ink/ink2.xml"/><Relationship Id="rId13" Type="http://schemas.openxmlformats.org/officeDocument/2006/relationships/image" Target="../media/image12.png"/><Relationship Id="rId18" Type="http://schemas.openxmlformats.org/officeDocument/2006/relationships/customXml" Target="../ink/ink7.xml"/><Relationship Id="rId3" Type="http://schemas.openxmlformats.org/officeDocument/2006/relationships/image" Target="../media/image1.png"/><Relationship Id="rId7" Type="http://schemas.openxmlformats.org/officeDocument/2006/relationships/image" Target="../media/image9.png"/><Relationship Id="rId12" Type="http://schemas.openxmlformats.org/officeDocument/2006/relationships/customXml" Target="../ink/ink4.xml"/><Relationship Id="rId17" Type="http://schemas.openxmlformats.org/officeDocument/2006/relationships/image" Target="../media/image14.png"/><Relationship Id="rId2" Type="http://schemas.openxmlformats.org/officeDocument/2006/relationships/image" Target="../media/image5.png"/><Relationship Id="rId16" Type="http://schemas.openxmlformats.org/officeDocument/2006/relationships/customXml" Target="../ink/ink6.xml"/><Relationship Id="rId1" Type="http://schemas.openxmlformats.org/officeDocument/2006/relationships/slideLayout" Target="../slideLayouts/slideLayout7.xml"/><Relationship Id="rId6" Type="http://schemas.openxmlformats.org/officeDocument/2006/relationships/customXml" Target="../ink/ink1.xml"/><Relationship Id="rId11" Type="http://schemas.openxmlformats.org/officeDocument/2006/relationships/image" Target="../media/image11.png"/><Relationship Id="rId5" Type="http://schemas.openxmlformats.org/officeDocument/2006/relationships/image" Target="../media/image6.png"/><Relationship Id="rId15" Type="http://schemas.openxmlformats.org/officeDocument/2006/relationships/image" Target="../media/image13.png"/><Relationship Id="rId10" Type="http://schemas.openxmlformats.org/officeDocument/2006/relationships/customXml" Target="../ink/ink3.xml"/><Relationship Id="rId19" Type="http://schemas.openxmlformats.org/officeDocument/2006/relationships/image" Target="../media/image15.png"/><Relationship Id="rId4" Type="http://schemas.openxmlformats.org/officeDocument/2006/relationships/image" Target="../media/image2.jpeg"/><Relationship Id="rId9" Type="http://schemas.openxmlformats.org/officeDocument/2006/relationships/image" Target="../media/image10.png"/><Relationship Id="rId14" Type="http://schemas.openxmlformats.org/officeDocument/2006/relationships/customXml" Target="../ink/ink5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2.jpe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6.png"/><Relationship Id="rId5" Type="http://schemas.openxmlformats.org/officeDocument/2006/relationships/image" Target="../media/image6.png"/><Relationship Id="rId4" Type="http://schemas.openxmlformats.org/officeDocument/2006/relationships/image" Target="../media/image2.jpe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7.png"/><Relationship Id="rId5" Type="http://schemas.openxmlformats.org/officeDocument/2006/relationships/image" Target="../media/image6.png"/><Relationship Id="rId4" Type="http://schemas.openxmlformats.org/officeDocument/2006/relationships/image" Target="../media/image2.jpe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2.jpe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2.jpe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2.jpe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6.png"/><Relationship Id="rId4" Type="http://schemas.openxmlformats.org/officeDocument/2006/relationships/image" Target="../media/image2.jpe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"/>
          <p:cNvSpPr txBox="1"/>
          <p:nvPr/>
        </p:nvSpPr>
        <p:spPr>
          <a:xfrm>
            <a:off x="3242257" y="244961"/>
            <a:ext cx="6181137" cy="321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algn="ctr" defTabSz="914400">
              <a:buClr>
                <a:srgbClr val="000000"/>
              </a:buClr>
            </a:pPr>
            <a:r>
              <a:rPr lang="en-US" sz="2000" b="1" kern="0" dirty="0">
                <a:solidFill>
                  <a:srgbClr val="C00000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Nutan Maharashtra Vidya Prasarak Mandal's</a:t>
            </a:r>
            <a:endParaRPr sz="2000" b="1" kern="0" dirty="0">
              <a:solidFill>
                <a:srgbClr val="C00000"/>
              </a:solidFill>
              <a:latin typeface="Trebuchet MS" panose="020B0603020202020204" pitchFamily="34" charset="0"/>
              <a:ea typeface="Calibri"/>
              <a:cs typeface="Calibri"/>
              <a:sym typeface="Calibri"/>
            </a:endParaRPr>
          </a:p>
        </p:txBody>
      </p:sp>
      <p:sp>
        <p:nvSpPr>
          <p:cNvPr id="46" name="Google Shape;46;p1"/>
          <p:cNvSpPr txBox="1">
            <a:spLocks noGrp="1"/>
          </p:cNvSpPr>
          <p:nvPr>
            <p:ph type="title"/>
          </p:nvPr>
        </p:nvSpPr>
        <p:spPr>
          <a:xfrm>
            <a:off x="1813905" y="823347"/>
            <a:ext cx="8428777" cy="67825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ctr" anchorCtr="0">
            <a:spAutoFit/>
          </a:bodyPr>
          <a:lstStyle/>
          <a:p>
            <a:pPr marR="5080" algn="ctr"/>
            <a:r>
              <a:rPr lang="en-GB" sz="2400" b="1" dirty="0">
                <a:solidFill>
                  <a:srgbClr val="002060"/>
                </a:solidFill>
                <a:latin typeface="Trebuchet MS" panose="020B0603020202020204" pitchFamily="34" charset="0"/>
              </a:rPr>
              <a:t>NUTAN MAHARASHTRA INSTITUTE OF ENGINEERING &amp; TECHNOLOGY, PUNE</a:t>
            </a:r>
            <a:endParaRPr sz="2400" b="1" dirty="0">
              <a:solidFill>
                <a:srgbClr val="002060"/>
              </a:solidFill>
              <a:latin typeface="Trebuchet MS" panose="020B0603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BB44F0BD-298C-6D35-C573-5B6CF26A465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89977" y="75380"/>
            <a:ext cx="1756756" cy="855689"/>
          </a:xfrm>
          <a:prstGeom prst="rect">
            <a:avLst/>
          </a:prstGeom>
        </p:spPr>
      </p:pic>
      <p:pic>
        <p:nvPicPr>
          <p:cNvPr id="1026" name="Picture 2" descr="PCET Trust Logo">
            <a:extLst>
              <a:ext uri="{FF2B5EF4-FFF2-40B4-BE49-F238E27FC236}">
                <a16:creationId xmlns:a16="http://schemas.microsoft.com/office/drawing/2014/main" id="{C763846A-031E-7C01-742D-C5B164D13A6C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0242682" y="112598"/>
            <a:ext cx="1759037" cy="85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F5EF184F-50A3-AE71-09A6-ED7A6B34A4CB}"/>
              </a:ext>
            </a:extLst>
          </p:cNvPr>
          <p:cNvPicPr>
            <a:picLocks noChangeAspect="1"/>
          </p:cNvPicPr>
          <p:nvPr/>
        </p:nvPicPr>
        <p:blipFill rotWithShape="1">
          <a:blip r:embed="rId5"/>
          <a:srcRect t="20494" b="1925"/>
          <a:stretch/>
        </p:blipFill>
        <p:spPr>
          <a:xfrm>
            <a:off x="-293" y="1779339"/>
            <a:ext cx="12192000" cy="4379329"/>
          </a:xfrm>
          <a:prstGeom prst="rect">
            <a:avLst/>
          </a:prstGeom>
          <a:ln>
            <a:noFill/>
          </a:ln>
          <a:effectLst>
            <a:softEdge rad="112500"/>
          </a:effectLst>
        </p:spPr>
      </p:pic>
      <p:sp>
        <p:nvSpPr>
          <p:cNvPr id="4" name="Parallelogram 3"/>
          <p:cNvSpPr/>
          <p:nvPr/>
        </p:nvSpPr>
        <p:spPr>
          <a:xfrm flipH="1">
            <a:off x="0" y="6351744"/>
            <a:ext cx="6332826" cy="50625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32826" h="1508526">
                <a:moveTo>
                  <a:pt x="0" y="1508526"/>
                </a:moveTo>
                <a:lnTo>
                  <a:pt x="377132" y="0"/>
                </a:lnTo>
                <a:lnTo>
                  <a:pt x="6332826" y="77491"/>
                </a:lnTo>
                <a:lnTo>
                  <a:pt x="6327654" y="1508526"/>
                </a:lnTo>
                <a:lnTo>
                  <a:pt x="0" y="1508526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TextBox 4"/>
          <p:cNvSpPr txBox="1"/>
          <p:nvPr/>
        </p:nvSpPr>
        <p:spPr>
          <a:xfrm>
            <a:off x="186361" y="6420206"/>
            <a:ext cx="5909346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rebuchet MS" panose="020B0603020202020204" pitchFamily="34" charset="0"/>
              </a:rPr>
              <a:t>Department of Computer Engineering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4136" y="6351744"/>
            <a:ext cx="494395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latin typeface="Trebuchet MS" panose="020B0603020202020204" pitchFamily="34" charset="0"/>
              </a:rPr>
              <a:t>https://www.nmiet.edu.in/index.php</a:t>
            </a:r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68" t="20009" r="17839" b="24808"/>
          <a:stretch/>
        </p:blipFill>
        <p:spPr>
          <a:xfrm>
            <a:off x="7321181" y="6341523"/>
            <a:ext cx="541893" cy="512601"/>
          </a:xfrm>
          <a:prstGeom prst="rect">
            <a:avLst/>
          </a:prstGeom>
        </p:spPr>
      </p:pic>
      <p:sp>
        <p:nvSpPr>
          <p:cNvPr id="8" name="Slide Number Placeholder 7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mtClean="0"/>
              <a:t>1</a:t>
            </a:fld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35DBB77B-5CFE-8AB1-53B6-4BECFED802A5}"/>
              </a:ext>
            </a:extLst>
          </p:cNvPr>
          <p:cNvSpPr txBox="1"/>
          <p:nvPr/>
        </p:nvSpPr>
        <p:spPr>
          <a:xfrm>
            <a:off x="1965961" y="1926120"/>
            <a:ext cx="896112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>
                <a:solidFill>
                  <a:schemeClr val="bg1"/>
                </a:solidFill>
                <a:latin typeface="Trebuchet MS" panose="020B0603020202020204" pitchFamily="34" charset="0"/>
              </a:rPr>
              <a:t> </a:t>
            </a:r>
            <a:r>
              <a:rPr lang="en-US" sz="3600" b="1" dirty="0">
                <a:solidFill>
                  <a:srgbClr val="C00000"/>
                </a:solidFill>
                <a:latin typeface="Trebuchet MS" panose="020B0603020202020204" pitchFamily="34" charset="0"/>
              </a:rPr>
              <a:t>Seminar and Technical Communication</a:t>
            </a:r>
          </a:p>
          <a:p>
            <a:pPr algn="ctr"/>
            <a:r>
              <a:rPr lang="en-US" sz="3600" b="1" dirty="0">
                <a:solidFill>
                  <a:srgbClr val="C00000"/>
                </a:solidFill>
                <a:latin typeface="Trebuchet MS" panose="020B0603020202020204" pitchFamily="34" charset="0"/>
              </a:rPr>
              <a:t>Review I</a:t>
            </a:r>
          </a:p>
        </p:txBody>
      </p:sp>
    </p:spTree>
    <p:extLst>
      <p:ext uri="{BB962C8B-B14F-4D97-AF65-F5344CB8AC3E}">
        <p14:creationId xmlns:p14="http://schemas.microsoft.com/office/powerpoint/2010/main" val="10053550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arallelogram 3"/>
          <p:cNvSpPr/>
          <p:nvPr/>
        </p:nvSpPr>
        <p:spPr>
          <a:xfrm flipV="1">
            <a:off x="9830506" y="6351744"/>
            <a:ext cx="2387680" cy="51124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2053969 w 6332826"/>
              <a:gd name="connsiteY3" fmla="*/ 1462343 h 1508526"/>
              <a:gd name="connsiteX4" fmla="*/ 0 w 6332826"/>
              <a:gd name="connsiteY4" fmla="*/ 1508526 h 1508526"/>
              <a:gd name="connsiteX0" fmla="*/ 0 w 2099585"/>
              <a:gd name="connsiteY0" fmla="*/ 1523395 h 1523395"/>
              <a:gd name="connsiteX1" fmla="*/ 377132 w 2099585"/>
              <a:gd name="connsiteY1" fmla="*/ 14869 h 1523395"/>
              <a:gd name="connsiteX2" fmla="*/ 2099585 w 2099585"/>
              <a:gd name="connsiteY2" fmla="*/ 0 h 1523395"/>
              <a:gd name="connsiteX3" fmla="*/ 2053969 w 2099585"/>
              <a:gd name="connsiteY3" fmla="*/ 1477212 h 1523395"/>
              <a:gd name="connsiteX4" fmla="*/ 0 w 2099585"/>
              <a:gd name="connsiteY4" fmla="*/ 1523395 h 1523395"/>
              <a:gd name="connsiteX0" fmla="*/ 0 w 2122866"/>
              <a:gd name="connsiteY0" fmla="*/ 1523395 h 1523395"/>
              <a:gd name="connsiteX1" fmla="*/ 377132 w 2122866"/>
              <a:gd name="connsiteY1" fmla="*/ 14869 h 1523395"/>
              <a:gd name="connsiteX2" fmla="*/ 2099585 w 2122866"/>
              <a:gd name="connsiteY2" fmla="*/ 0 h 1523395"/>
              <a:gd name="connsiteX3" fmla="*/ 2122866 w 2122866"/>
              <a:gd name="connsiteY3" fmla="*/ 1523392 h 1523395"/>
              <a:gd name="connsiteX4" fmla="*/ 0 w 2122866"/>
              <a:gd name="connsiteY4" fmla="*/ 1523395 h 1523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2866" h="1523395">
                <a:moveTo>
                  <a:pt x="0" y="1523395"/>
                </a:moveTo>
                <a:lnTo>
                  <a:pt x="377132" y="14869"/>
                </a:lnTo>
                <a:lnTo>
                  <a:pt x="2099585" y="0"/>
                </a:lnTo>
                <a:lnTo>
                  <a:pt x="2122866" y="1523392"/>
                </a:lnTo>
                <a:lnTo>
                  <a:pt x="0" y="1523395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/>
          <p:cNvSpPr/>
          <p:nvPr/>
        </p:nvSpPr>
        <p:spPr>
          <a:xfrm>
            <a:off x="0" y="1015168"/>
            <a:ext cx="12693112" cy="45719"/>
          </a:xfrm>
          <a:prstGeom prst="roundRect">
            <a:avLst/>
          </a:prstGeom>
          <a:gradFill flip="none" rotWithShape="1">
            <a:gsLst>
              <a:gs pos="0">
                <a:srgbClr val="FF0000"/>
              </a:gs>
              <a:gs pos="27000">
                <a:srgbClr val="E77179"/>
              </a:gs>
              <a:gs pos="90000">
                <a:srgbClr val="0066FF"/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3"/>
          <p:cNvSpPr/>
          <p:nvPr/>
        </p:nvSpPr>
        <p:spPr>
          <a:xfrm flipH="1">
            <a:off x="-1" y="6351744"/>
            <a:ext cx="7280119" cy="50625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32826" h="1508526">
                <a:moveTo>
                  <a:pt x="0" y="1508526"/>
                </a:moveTo>
                <a:lnTo>
                  <a:pt x="377132" y="0"/>
                </a:lnTo>
                <a:lnTo>
                  <a:pt x="6332826" y="77491"/>
                </a:lnTo>
                <a:lnTo>
                  <a:pt x="6327654" y="1508526"/>
                </a:lnTo>
                <a:lnTo>
                  <a:pt x="0" y="1508526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/>
          <p:cNvSpPr txBox="1"/>
          <p:nvPr/>
        </p:nvSpPr>
        <p:spPr>
          <a:xfrm>
            <a:off x="186360" y="6420206"/>
            <a:ext cx="6879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rebuchet MS" panose="020B0603020202020204" pitchFamily="34" charset="0"/>
              </a:rPr>
              <a:t>Department of Computer Engineering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653397" y="6425917"/>
            <a:ext cx="2755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https://www.nmiet.edu.in</a:t>
            </a:r>
          </a:p>
        </p:txBody>
      </p:sp>
      <p:pic>
        <p:nvPicPr>
          <p:cNvPr id="13" name="Picture 12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68" t="20009" r="17839" b="24808"/>
          <a:stretch/>
        </p:blipFill>
        <p:spPr>
          <a:xfrm>
            <a:off x="7314815" y="6472880"/>
            <a:ext cx="334753" cy="316658"/>
          </a:xfrm>
          <a:prstGeom prst="rect">
            <a:avLst/>
          </a:prstGeom>
        </p:spPr>
      </p:pic>
      <p:sp>
        <p:nvSpPr>
          <p:cNvPr id="16" name="Google Shape;45;p1"/>
          <p:cNvSpPr txBox="1"/>
          <p:nvPr/>
        </p:nvSpPr>
        <p:spPr>
          <a:xfrm>
            <a:off x="3578165" y="48630"/>
            <a:ext cx="5536782" cy="321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algn="ctr" defTabSz="914400">
              <a:buClr>
                <a:srgbClr val="000000"/>
              </a:buClr>
            </a:pPr>
            <a:r>
              <a:rPr lang="en-US" sz="2000" b="1" kern="0" dirty="0">
                <a:solidFill>
                  <a:srgbClr val="C00000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Nutan Maharashtra Vidya Prasarak Mandal's</a:t>
            </a:r>
            <a:endParaRPr sz="2000" kern="0" dirty="0">
              <a:solidFill>
                <a:srgbClr val="C00000"/>
              </a:solidFill>
              <a:latin typeface="Trebuchet MS" panose="020B0603020202020204" pitchFamily="34" charset="0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46;p1"/>
          <p:cNvSpPr txBox="1">
            <a:spLocks/>
          </p:cNvSpPr>
          <p:nvPr/>
        </p:nvSpPr>
        <p:spPr>
          <a:xfrm>
            <a:off x="1718118" y="511377"/>
            <a:ext cx="8890004" cy="2904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R="5080" algn="ctr" defTabSz="914400"/>
            <a:r>
              <a:rPr lang="en-US" sz="1800" b="1" kern="0" dirty="0">
                <a:solidFill>
                  <a:srgbClr val="002060"/>
                </a:solidFill>
                <a:latin typeface="Trebuchet MS" panose="020B0603020202020204" pitchFamily="34" charset="0"/>
              </a:rPr>
              <a:t>NUTAN MAHARASHTRA INSTITUTE OF ENGINEERING &amp; TECHNOLOGY, PUNE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BB44F0BD-298C-6D35-C573-5B6CF26A4657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260"/>
          <a:stretch/>
        </p:blipFill>
        <p:spPr>
          <a:xfrm>
            <a:off x="289977" y="75380"/>
            <a:ext cx="873805" cy="855689"/>
          </a:xfrm>
          <a:prstGeom prst="rect">
            <a:avLst/>
          </a:prstGeom>
        </p:spPr>
      </p:pic>
      <p:pic>
        <p:nvPicPr>
          <p:cNvPr id="15" name="Picture 2" descr="PCET Trust Logo">
            <a:extLst>
              <a:ext uri="{FF2B5EF4-FFF2-40B4-BE49-F238E27FC236}">
                <a16:creationId xmlns:a16="http://schemas.microsoft.com/office/drawing/2014/main" id="{C763846A-031E-7C01-742D-C5B164D13A6C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84"/>
          <a:stretch/>
        </p:blipFill>
        <p:spPr bwMode="auto">
          <a:xfrm>
            <a:off x="11174681" y="112598"/>
            <a:ext cx="827038" cy="85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z="1600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fld>
            <a:endParaRPr lang="en-US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6" name="Group 25"/>
          <p:cNvGrpSpPr/>
          <p:nvPr/>
        </p:nvGrpSpPr>
        <p:grpSpPr>
          <a:xfrm>
            <a:off x="10002575" y="1496749"/>
            <a:ext cx="2951499" cy="4236154"/>
            <a:chOff x="9684743" y="1095259"/>
            <a:chExt cx="3874878" cy="4769414"/>
          </a:xfrm>
          <a:blipFill dpi="0" rotWithShape="1">
            <a:blip r:embed="rId5">
              <a:alphaModFix amt="39000"/>
            </a:blip>
            <a:srcRect/>
            <a:stretch>
              <a:fillRect/>
            </a:stretch>
          </a:blipFill>
        </p:grpSpPr>
        <p:grpSp>
          <p:nvGrpSpPr>
            <p:cNvPr id="24" name="Group 23"/>
            <p:cNvGrpSpPr/>
            <p:nvPr/>
          </p:nvGrpSpPr>
          <p:grpSpPr>
            <a:xfrm>
              <a:off x="9684743" y="1095259"/>
              <a:ext cx="3874878" cy="3328889"/>
              <a:chOff x="9467767" y="1405229"/>
              <a:chExt cx="3874878" cy="3328889"/>
            </a:xfrm>
            <a:grpFill/>
          </p:grpSpPr>
          <p:sp>
            <p:nvSpPr>
              <p:cNvPr id="7" name="Rectangle 6"/>
              <p:cNvSpPr/>
              <p:nvPr/>
            </p:nvSpPr>
            <p:spPr>
              <a:xfrm rot="20333433">
                <a:off x="10503919" y="14052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/>
              <p:cNvSpPr/>
              <p:nvPr/>
            </p:nvSpPr>
            <p:spPr>
              <a:xfrm rot="20333433">
                <a:off x="9467767" y="2806885"/>
                <a:ext cx="3413826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/>
              <p:cNvSpPr/>
              <p:nvPr/>
            </p:nvSpPr>
            <p:spPr>
              <a:xfrm rot="20333433">
                <a:off x="10660793" y="37545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5" name="Rectangle 24"/>
            <p:cNvSpPr/>
            <p:nvPr/>
          </p:nvSpPr>
          <p:spPr>
            <a:xfrm rot="20333433">
              <a:off x="9837143" y="4885084"/>
              <a:ext cx="3413826" cy="97958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E4CCF1DA-38B0-9597-57D0-5B607E4B7E1D}"/>
              </a:ext>
            </a:extLst>
          </p:cNvPr>
          <p:cNvSpPr txBox="1"/>
          <p:nvPr/>
        </p:nvSpPr>
        <p:spPr>
          <a:xfrm>
            <a:off x="1573161" y="1591056"/>
            <a:ext cx="8257345" cy="37240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000" dirty="0"/>
              <a:t>Topic name</a:t>
            </a:r>
          </a:p>
          <a:p>
            <a:pPr algn="ctr"/>
            <a:r>
              <a:rPr lang="en-IN" b="1" dirty="0"/>
              <a:t>Deepfake Technology</a:t>
            </a:r>
            <a:endParaRPr lang="en-US" sz="2000" dirty="0"/>
          </a:p>
          <a:p>
            <a:pPr algn="ctr"/>
            <a:endParaRPr lang="en-US" sz="2000" dirty="0"/>
          </a:p>
          <a:p>
            <a:pPr algn="ctr"/>
            <a:endParaRPr lang="en-US" sz="2000" dirty="0"/>
          </a:p>
          <a:p>
            <a:pPr algn="ctr"/>
            <a:r>
              <a:rPr lang="en-US" sz="2000" dirty="0"/>
              <a:t>Presented By</a:t>
            </a:r>
          </a:p>
          <a:p>
            <a:pPr algn="ctr"/>
            <a:r>
              <a:rPr lang="en-US" sz="2000" dirty="0"/>
              <a:t>RollNo:</a:t>
            </a:r>
            <a:r>
              <a:rPr lang="en-US" sz="2000" b="1" dirty="0"/>
              <a:t>TEB127    </a:t>
            </a:r>
            <a:r>
              <a:rPr lang="en-US" sz="2000" dirty="0"/>
              <a:t>                                                    Name: </a:t>
            </a:r>
            <a:r>
              <a:rPr lang="en-US" sz="2000" b="1" dirty="0"/>
              <a:t>Aniruddha Kalubarme</a:t>
            </a:r>
          </a:p>
          <a:p>
            <a:pPr algn="ctr"/>
            <a:endParaRPr lang="en-US" sz="2000" dirty="0"/>
          </a:p>
          <a:p>
            <a:pPr algn="ctr"/>
            <a:endParaRPr lang="en-US" sz="2000" dirty="0"/>
          </a:p>
          <a:p>
            <a:pPr algn="ctr"/>
            <a:endParaRPr lang="en-US" sz="2000" dirty="0"/>
          </a:p>
          <a:p>
            <a:pPr algn="ctr"/>
            <a:r>
              <a:rPr lang="en-US" sz="2000" dirty="0"/>
              <a:t>Under the Guidance of</a:t>
            </a:r>
          </a:p>
          <a:p>
            <a:pPr algn="ctr"/>
            <a:r>
              <a:rPr lang="en-US" sz="2000" b="1" dirty="0"/>
              <a:t>Prof. Rupali </a:t>
            </a:r>
            <a:r>
              <a:rPr lang="en-US" sz="2000" b="1" dirty="0" err="1"/>
              <a:t>Kaldoke</a:t>
            </a:r>
            <a:r>
              <a:rPr lang="en-US" sz="2000" b="1" dirty="0"/>
              <a:t> Mam</a:t>
            </a:r>
          </a:p>
          <a:p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0889148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21B6E6-73B7-57E7-5A49-3082668857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arallelogram 3">
            <a:extLst>
              <a:ext uri="{FF2B5EF4-FFF2-40B4-BE49-F238E27FC236}">
                <a16:creationId xmlns:a16="http://schemas.microsoft.com/office/drawing/2014/main" id="{A945ABDC-47E0-BCF9-2E7A-ECA894835BA8}"/>
              </a:ext>
            </a:extLst>
          </p:cNvPr>
          <p:cNvSpPr/>
          <p:nvPr/>
        </p:nvSpPr>
        <p:spPr>
          <a:xfrm flipV="1">
            <a:off x="9830506" y="6351744"/>
            <a:ext cx="2387680" cy="51124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2053969 w 6332826"/>
              <a:gd name="connsiteY3" fmla="*/ 1462343 h 1508526"/>
              <a:gd name="connsiteX4" fmla="*/ 0 w 6332826"/>
              <a:gd name="connsiteY4" fmla="*/ 1508526 h 1508526"/>
              <a:gd name="connsiteX0" fmla="*/ 0 w 2099585"/>
              <a:gd name="connsiteY0" fmla="*/ 1523395 h 1523395"/>
              <a:gd name="connsiteX1" fmla="*/ 377132 w 2099585"/>
              <a:gd name="connsiteY1" fmla="*/ 14869 h 1523395"/>
              <a:gd name="connsiteX2" fmla="*/ 2099585 w 2099585"/>
              <a:gd name="connsiteY2" fmla="*/ 0 h 1523395"/>
              <a:gd name="connsiteX3" fmla="*/ 2053969 w 2099585"/>
              <a:gd name="connsiteY3" fmla="*/ 1477212 h 1523395"/>
              <a:gd name="connsiteX4" fmla="*/ 0 w 2099585"/>
              <a:gd name="connsiteY4" fmla="*/ 1523395 h 1523395"/>
              <a:gd name="connsiteX0" fmla="*/ 0 w 2122866"/>
              <a:gd name="connsiteY0" fmla="*/ 1523395 h 1523395"/>
              <a:gd name="connsiteX1" fmla="*/ 377132 w 2122866"/>
              <a:gd name="connsiteY1" fmla="*/ 14869 h 1523395"/>
              <a:gd name="connsiteX2" fmla="*/ 2099585 w 2122866"/>
              <a:gd name="connsiteY2" fmla="*/ 0 h 1523395"/>
              <a:gd name="connsiteX3" fmla="*/ 2122866 w 2122866"/>
              <a:gd name="connsiteY3" fmla="*/ 1523392 h 1523395"/>
              <a:gd name="connsiteX4" fmla="*/ 0 w 2122866"/>
              <a:gd name="connsiteY4" fmla="*/ 1523395 h 1523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2866" h="1523395">
                <a:moveTo>
                  <a:pt x="0" y="1523395"/>
                </a:moveTo>
                <a:lnTo>
                  <a:pt x="377132" y="14869"/>
                </a:lnTo>
                <a:lnTo>
                  <a:pt x="2099585" y="0"/>
                </a:lnTo>
                <a:lnTo>
                  <a:pt x="2122866" y="1523392"/>
                </a:lnTo>
                <a:lnTo>
                  <a:pt x="0" y="1523395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C8D6CDB-3BD7-0F11-8759-7E131C8E7D69}"/>
              </a:ext>
            </a:extLst>
          </p:cNvPr>
          <p:cNvSpPr/>
          <p:nvPr/>
        </p:nvSpPr>
        <p:spPr>
          <a:xfrm>
            <a:off x="0" y="1015168"/>
            <a:ext cx="12693112" cy="45719"/>
          </a:xfrm>
          <a:prstGeom prst="roundRect">
            <a:avLst/>
          </a:prstGeom>
          <a:gradFill flip="none" rotWithShape="1">
            <a:gsLst>
              <a:gs pos="0">
                <a:srgbClr val="FF0000"/>
              </a:gs>
              <a:gs pos="27000">
                <a:srgbClr val="E77179"/>
              </a:gs>
              <a:gs pos="90000">
                <a:srgbClr val="0066FF"/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3">
            <a:extLst>
              <a:ext uri="{FF2B5EF4-FFF2-40B4-BE49-F238E27FC236}">
                <a16:creationId xmlns:a16="http://schemas.microsoft.com/office/drawing/2014/main" id="{CEAAC557-7949-AAB6-10B1-F078C34E1752}"/>
              </a:ext>
            </a:extLst>
          </p:cNvPr>
          <p:cNvSpPr/>
          <p:nvPr/>
        </p:nvSpPr>
        <p:spPr>
          <a:xfrm flipH="1">
            <a:off x="-1" y="6351744"/>
            <a:ext cx="7280119" cy="50625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32826" h="1508526">
                <a:moveTo>
                  <a:pt x="0" y="1508526"/>
                </a:moveTo>
                <a:lnTo>
                  <a:pt x="377132" y="0"/>
                </a:lnTo>
                <a:lnTo>
                  <a:pt x="6332826" y="77491"/>
                </a:lnTo>
                <a:lnTo>
                  <a:pt x="6327654" y="1508526"/>
                </a:lnTo>
                <a:lnTo>
                  <a:pt x="0" y="1508526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1B5E9605-F348-3981-CA26-2DCF5BD3DA91}"/>
              </a:ext>
            </a:extLst>
          </p:cNvPr>
          <p:cNvSpPr txBox="1"/>
          <p:nvPr/>
        </p:nvSpPr>
        <p:spPr>
          <a:xfrm>
            <a:off x="186360" y="6420206"/>
            <a:ext cx="6879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rebuchet MS" panose="020B0603020202020204" pitchFamily="34" charset="0"/>
              </a:rPr>
              <a:t>Department of Computer Engineering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31AFBC5A-6BCE-FCAC-D13D-2A429324F6D0}"/>
              </a:ext>
            </a:extLst>
          </p:cNvPr>
          <p:cNvSpPr txBox="1"/>
          <p:nvPr/>
        </p:nvSpPr>
        <p:spPr>
          <a:xfrm>
            <a:off x="7653397" y="6425917"/>
            <a:ext cx="2755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https://www.nmiet.edu.in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1B059A7D-E4E0-E63B-278A-998E3C3A247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68" t="20009" r="17839" b="24808"/>
          <a:stretch/>
        </p:blipFill>
        <p:spPr>
          <a:xfrm>
            <a:off x="7314815" y="6472880"/>
            <a:ext cx="334753" cy="316658"/>
          </a:xfrm>
          <a:prstGeom prst="rect">
            <a:avLst/>
          </a:prstGeom>
        </p:spPr>
      </p:pic>
      <p:sp>
        <p:nvSpPr>
          <p:cNvPr id="16" name="Google Shape;45;p1">
            <a:extLst>
              <a:ext uri="{FF2B5EF4-FFF2-40B4-BE49-F238E27FC236}">
                <a16:creationId xmlns:a16="http://schemas.microsoft.com/office/drawing/2014/main" id="{E634B304-4125-1ED2-AA16-02E5CEE9AE72}"/>
              </a:ext>
            </a:extLst>
          </p:cNvPr>
          <p:cNvSpPr txBox="1"/>
          <p:nvPr/>
        </p:nvSpPr>
        <p:spPr>
          <a:xfrm>
            <a:off x="3578165" y="48630"/>
            <a:ext cx="5536782" cy="321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algn="ctr" defTabSz="914400">
              <a:buClr>
                <a:srgbClr val="000000"/>
              </a:buClr>
            </a:pPr>
            <a:r>
              <a:rPr lang="en-US" sz="2000" b="1" kern="0" dirty="0">
                <a:solidFill>
                  <a:srgbClr val="C00000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Nutan Maharashtra Vidya Prasarak Mandal's</a:t>
            </a:r>
            <a:endParaRPr sz="2000" kern="0" dirty="0">
              <a:solidFill>
                <a:srgbClr val="C00000"/>
              </a:solidFill>
              <a:latin typeface="Trebuchet MS" panose="020B0603020202020204" pitchFamily="34" charset="0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46;p1">
            <a:extLst>
              <a:ext uri="{FF2B5EF4-FFF2-40B4-BE49-F238E27FC236}">
                <a16:creationId xmlns:a16="http://schemas.microsoft.com/office/drawing/2014/main" id="{57C474B5-D1AC-3FEE-F81E-D9ED5162F686}"/>
              </a:ext>
            </a:extLst>
          </p:cNvPr>
          <p:cNvSpPr txBox="1">
            <a:spLocks/>
          </p:cNvSpPr>
          <p:nvPr/>
        </p:nvSpPr>
        <p:spPr>
          <a:xfrm>
            <a:off x="1718118" y="511377"/>
            <a:ext cx="8890004" cy="2904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R="5080" algn="ctr" defTabSz="914400"/>
            <a:r>
              <a:rPr lang="en-US" sz="1800" b="1" kern="0" dirty="0">
                <a:solidFill>
                  <a:srgbClr val="002060"/>
                </a:solidFill>
                <a:latin typeface="Trebuchet MS" panose="020B0603020202020204" pitchFamily="34" charset="0"/>
              </a:rPr>
              <a:t>NUTAN MAHARASHTRA INSTITUTE OF ENGINEERING &amp; TECHNOLOGY, PUNE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91293E8-68F6-0B1A-A9F8-AE5828CEEC0B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260"/>
          <a:stretch/>
        </p:blipFill>
        <p:spPr>
          <a:xfrm>
            <a:off x="289977" y="75380"/>
            <a:ext cx="873805" cy="855689"/>
          </a:xfrm>
          <a:prstGeom prst="rect">
            <a:avLst/>
          </a:prstGeom>
        </p:spPr>
      </p:pic>
      <p:pic>
        <p:nvPicPr>
          <p:cNvPr id="15" name="Picture 2" descr="PCET Trust Logo">
            <a:extLst>
              <a:ext uri="{FF2B5EF4-FFF2-40B4-BE49-F238E27FC236}">
                <a16:creationId xmlns:a16="http://schemas.microsoft.com/office/drawing/2014/main" id="{545C0A26-6413-D95B-7259-18D833EBDB97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84"/>
          <a:stretch/>
        </p:blipFill>
        <p:spPr bwMode="auto">
          <a:xfrm>
            <a:off x="11174681" y="112598"/>
            <a:ext cx="827038" cy="85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9D126610-A352-6458-FB6D-E463ACE750C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z="1600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fld>
            <a:endParaRPr lang="en-US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F3C2CF9-CE6C-B7B6-9188-9F6369D269A6}"/>
              </a:ext>
            </a:extLst>
          </p:cNvPr>
          <p:cNvGrpSpPr/>
          <p:nvPr/>
        </p:nvGrpSpPr>
        <p:grpSpPr>
          <a:xfrm>
            <a:off x="10002575" y="1496749"/>
            <a:ext cx="2951499" cy="4236154"/>
            <a:chOff x="9684743" y="1095259"/>
            <a:chExt cx="3874878" cy="4769414"/>
          </a:xfrm>
          <a:blipFill dpi="0" rotWithShape="1">
            <a:blip r:embed="rId5">
              <a:alphaModFix amt="39000"/>
            </a:blip>
            <a:srcRect/>
            <a:stretch>
              <a:fillRect/>
            </a:stretch>
          </a:blipFill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BA02A179-F736-B195-D880-4A7EFB4CAC86}"/>
                </a:ext>
              </a:extLst>
            </p:cNvPr>
            <p:cNvGrpSpPr/>
            <p:nvPr/>
          </p:nvGrpSpPr>
          <p:grpSpPr>
            <a:xfrm>
              <a:off x="9684743" y="1095259"/>
              <a:ext cx="3874878" cy="3328889"/>
              <a:chOff x="9467767" y="1405229"/>
              <a:chExt cx="3874878" cy="3328889"/>
            </a:xfrm>
            <a:grp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C00932B5-C597-38D1-F362-9D9371417E9C}"/>
                  </a:ext>
                </a:extLst>
              </p:cNvPr>
              <p:cNvSpPr/>
              <p:nvPr/>
            </p:nvSpPr>
            <p:spPr>
              <a:xfrm rot="20333433">
                <a:off x="10503919" y="14052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6E735E1D-2D99-AD01-EACA-A53DB2018CE2}"/>
                  </a:ext>
                </a:extLst>
              </p:cNvPr>
              <p:cNvSpPr/>
              <p:nvPr/>
            </p:nvSpPr>
            <p:spPr>
              <a:xfrm rot="20333433">
                <a:off x="9467767" y="2806885"/>
                <a:ext cx="3413826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6CFCA2D5-0387-9F34-20A4-F0092985E63D}"/>
                  </a:ext>
                </a:extLst>
              </p:cNvPr>
              <p:cNvSpPr/>
              <p:nvPr/>
            </p:nvSpPr>
            <p:spPr>
              <a:xfrm rot="20333433">
                <a:off x="10660793" y="37545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CE2F4E98-985E-9B82-E44C-14226BFF934B}"/>
                </a:ext>
              </a:extLst>
            </p:cNvPr>
            <p:cNvSpPr/>
            <p:nvPr/>
          </p:nvSpPr>
          <p:spPr>
            <a:xfrm rot="20333433">
              <a:off x="9837143" y="4885084"/>
              <a:ext cx="3413826" cy="97958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C84BDF3F-8DF0-8A80-ABE5-C5CE2AB0AA80}"/>
              </a:ext>
            </a:extLst>
          </p:cNvPr>
          <p:cNvSpPr txBox="1"/>
          <p:nvPr/>
        </p:nvSpPr>
        <p:spPr>
          <a:xfrm>
            <a:off x="2350008" y="1591056"/>
            <a:ext cx="732933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Contents</a:t>
            </a:r>
          </a:p>
          <a:p>
            <a:endParaRPr lang="en-US" dirty="0"/>
          </a:p>
          <a:p>
            <a:r>
              <a:rPr lang="en-US" dirty="0"/>
              <a:t>1.Motivation</a:t>
            </a:r>
          </a:p>
          <a:p>
            <a:r>
              <a:rPr lang="en-US" dirty="0"/>
              <a:t>2.Introduction</a:t>
            </a:r>
          </a:p>
          <a:p>
            <a:r>
              <a:rPr lang="en-US" dirty="0"/>
              <a:t>3.Literature Survey</a:t>
            </a:r>
          </a:p>
          <a:p>
            <a:r>
              <a:rPr lang="en-US" dirty="0"/>
              <a:t>4.Objectives</a:t>
            </a:r>
          </a:p>
          <a:p>
            <a:r>
              <a:rPr lang="en-US" dirty="0"/>
              <a:t>5.Architecture/Flow Diagram</a:t>
            </a:r>
          </a:p>
          <a:p>
            <a:r>
              <a:rPr lang="en-US" dirty="0"/>
              <a:t>6.Methodology Used</a:t>
            </a:r>
          </a:p>
          <a:p>
            <a:r>
              <a:rPr lang="en-US" dirty="0"/>
              <a:t>7.Expected outcome</a:t>
            </a:r>
          </a:p>
          <a:p>
            <a:r>
              <a:rPr lang="en-US" dirty="0"/>
              <a:t>8.Conclusion</a:t>
            </a:r>
          </a:p>
          <a:p>
            <a:r>
              <a:rPr lang="en-US" dirty="0"/>
              <a:t>9.Future Scope</a:t>
            </a:r>
          </a:p>
          <a:p>
            <a:r>
              <a:rPr lang="en-US" dirty="0"/>
              <a:t>10.References</a:t>
            </a:r>
            <a:endParaRPr lang="en-IN" dirty="0"/>
          </a:p>
        </p:txBody>
      </p:sp>
    </p:spTree>
    <p:extLst>
      <p:ext uri="{BB962C8B-B14F-4D97-AF65-F5344CB8AC3E}">
        <p14:creationId xmlns:p14="http://schemas.microsoft.com/office/powerpoint/2010/main" val="163138307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FEEEA9-08C0-9DE9-F2A1-7AC1558CE4E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arallelogram 3">
            <a:extLst>
              <a:ext uri="{FF2B5EF4-FFF2-40B4-BE49-F238E27FC236}">
                <a16:creationId xmlns:a16="http://schemas.microsoft.com/office/drawing/2014/main" id="{0426C3E6-4960-BBD2-357F-76BBE98655F1}"/>
              </a:ext>
            </a:extLst>
          </p:cNvPr>
          <p:cNvSpPr/>
          <p:nvPr/>
        </p:nvSpPr>
        <p:spPr>
          <a:xfrm flipV="1">
            <a:off x="9830506" y="6351744"/>
            <a:ext cx="2387680" cy="51124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2053969 w 6332826"/>
              <a:gd name="connsiteY3" fmla="*/ 1462343 h 1508526"/>
              <a:gd name="connsiteX4" fmla="*/ 0 w 6332826"/>
              <a:gd name="connsiteY4" fmla="*/ 1508526 h 1508526"/>
              <a:gd name="connsiteX0" fmla="*/ 0 w 2099585"/>
              <a:gd name="connsiteY0" fmla="*/ 1523395 h 1523395"/>
              <a:gd name="connsiteX1" fmla="*/ 377132 w 2099585"/>
              <a:gd name="connsiteY1" fmla="*/ 14869 h 1523395"/>
              <a:gd name="connsiteX2" fmla="*/ 2099585 w 2099585"/>
              <a:gd name="connsiteY2" fmla="*/ 0 h 1523395"/>
              <a:gd name="connsiteX3" fmla="*/ 2053969 w 2099585"/>
              <a:gd name="connsiteY3" fmla="*/ 1477212 h 1523395"/>
              <a:gd name="connsiteX4" fmla="*/ 0 w 2099585"/>
              <a:gd name="connsiteY4" fmla="*/ 1523395 h 1523395"/>
              <a:gd name="connsiteX0" fmla="*/ 0 w 2122866"/>
              <a:gd name="connsiteY0" fmla="*/ 1523395 h 1523395"/>
              <a:gd name="connsiteX1" fmla="*/ 377132 w 2122866"/>
              <a:gd name="connsiteY1" fmla="*/ 14869 h 1523395"/>
              <a:gd name="connsiteX2" fmla="*/ 2099585 w 2122866"/>
              <a:gd name="connsiteY2" fmla="*/ 0 h 1523395"/>
              <a:gd name="connsiteX3" fmla="*/ 2122866 w 2122866"/>
              <a:gd name="connsiteY3" fmla="*/ 1523392 h 1523395"/>
              <a:gd name="connsiteX4" fmla="*/ 0 w 2122866"/>
              <a:gd name="connsiteY4" fmla="*/ 1523395 h 1523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2866" h="1523395">
                <a:moveTo>
                  <a:pt x="0" y="1523395"/>
                </a:moveTo>
                <a:lnTo>
                  <a:pt x="377132" y="14869"/>
                </a:lnTo>
                <a:lnTo>
                  <a:pt x="2099585" y="0"/>
                </a:lnTo>
                <a:lnTo>
                  <a:pt x="2122866" y="1523392"/>
                </a:lnTo>
                <a:lnTo>
                  <a:pt x="0" y="1523395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DF2317C8-17F3-8F39-0133-442CD7680EFB}"/>
              </a:ext>
            </a:extLst>
          </p:cNvPr>
          <p:cNvSpPr/>
          <p:nvPr/>
        </p:nvSpPr>
        <p:spPr>
          <a:xfrm>
            <a:off x="0" y="1015168"/>
            <a:ext cx="12693112" cy="45719"/>
          </a:xfrm>
          <a:prstGeom prst="roundRect">
            <a:avLst/>
          </a:prstGeom>
          <a:gradFill flip="none" rotWithShape="1">
            <a:gsLst>
              <a:gs pos="0">
                <a:srgbClr val="FF0000"/>
              </a:gs>
              <a:gs pos="27000">
                <a:srgbClr val="E77179"/>
              </a:gs>
              <a:gs pos="90000">
                <a:srgbClr val="0066FF"/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3">
            <a:extLst>
              <a:ext uri="{FF2B5EF4-FFF2-40B4-BE49-F238E27FC236}">
                <a16:creationId xmlns:a16="http://schemas.microsoft.com/office/drawing/2014/main" id="{4F621741-AC2B-0A7E-CC7F-651FA29BB83E}"/>
              </a:ext>
            </a:extLst>
          </p:cNvPr>
          <p:cNvSpPr/>
          <p:nvPr/>
        </p:nvSpPr>
        <p:spPr>
          <a:xfrm flipH="1">
            <a:off x="-1" y="6351744"/>
            <a:ext cx="7280119" cy="50625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32826" h="1508526">
                <a:moveTo>
                  <a:pt x="0" y="1508526"/>
                </a:moveTo>
                <a:lnTo>
                  <a:pt x="377132" y="0"/>
                </a:lnTo>
                <a:lnTo>
                  <a:pt x="6332826" y="77491"/>
                </a:lnTo>
                <a:lnTo>
                  <a:pt x="6327654" y="1508526"/>
                </a:lnTo>
                <a:lnTo>
                  <a:pt x="0" y="1508526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28D394F-6BE3-06A7-098C-2A3F198BA82D}"/>
              </a:ext>
            </a:extLst>
          </p:cNvPr>
          <p:cNvSpPr txBox="1"/>
          <p:nvPr/>
        </p:nvSpPr>
        <p:spPr>
          <a:xfrm>
            <a:off x="186360" y="6420206"/>
            <a:ext cx="6879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rebuchet MS" panose="020B0603020202020204" pitchFamily="34" charset="0"/>
              </a:rPr>
              <a:t>Department of Computer Engineering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3653F4B-500A-5248-252C-EDAC7AA4F207}"/>
              </a:ext>
            </a:extLst>
          </p:cNvPr>
          <p:cNvSpPr txBox="1"/>
          <p:nvPr/>
        </p:nvSpPr>
        <p:spPr>
          <a:xfrm>
            <a:off x="7653397" y="6425917"/>
            <a:ext cx="2755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https://www.nmiet.edu.in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E26276C0-65BB-B3E4-EF73-3B1B14B72E9C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68" t="20009" r="17839" b="24808"/>
          <a:stretch/>
        </p:blipFill>
        <p:spPr>
          <a:xfrm>
            <a:off x="7314815" y="6472880"/>
            <a:ext cx="334753" cy="316658"/>
          </a:xfrm>
          <a:prstGeom prst="rect">
            <a:avLst/>
          </a:prstGeom>
        </p:spPr>
      </p:pic>
      <p:sp>
        <p:nvSpPr>
          <p:cNvPr id="16" name="Google Shape;45;p1">
            <a:extLst>
              <a:ext uri="{FF2B5EF4-FFF2-40B4-BE49-F238E27FC236}">
                <a16:creationId xmlns:a16="http://schemas.microsoft.com/office/drawing/2014/main" id="{8957ED8C-A6DC-BFA2-28A3-120518C626CC}"/>
              </a:ext>
            </a:extLst>
          </p:cNvPr>
          <p:cNvSpPr txBox="1"/>
          <p:nvPr/>
        </p:nvSpPr>
        <p:spPr>
          <a:xfrm>
            <a:off x="3578165" y="48630"/>
            <a:ext cx="5536782" cy="321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algn="ctr" defTabSz="914400">
              <a:buClr>
                <a:srgbClr val="000000"/>
              </a:buClr>
            </a:pPr>
            <a:r>
              <a:rPr lang="en-US" sz="2000" b="1" kern="0" dirty="0">
                <a:solidFill>
                  <a:srgbClr val="C00000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Nutan Maharashtra Vidya Prasarak Mandal's</a:t>
            </a:r>
            <a:endParaRPr sz="2000" kern="0" dirty="0">
              <a:solidFill>
                <a:srgbClr val="C00000"/>
              </a:solidFill>
              <a:latin typeface="Trebuchet MS" panose="020B0603020202020204" pitchFamily="34" charset="0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46;p1">
            <a:extLst>
              <a:ext uri="{FF2B5EF4-FFF2-40B4-BE49-F238E27FC236}">
                <a16:creationId xmlns:a16="http://schemas.microsoft.com/office/drawing/2014/main" id="{F150C0F9-0AD4-F2A7-8081-85AAB6365844}"/>
              </a:ext>
            </a:extLst>
          </p:cNvPr>
          <p:cNvSpPr txBox="1">
            <a:spLocks/>
          </p:cNvSpPr>
          <p:nvPr/>
        </p:nvSpPr>
        <p:spPr>
          <a:xfrm>
            <a:off x="1718118" y="511377"/>
            <a:ext cx="8890004" cy="2904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R="5080" algn="ctr" defTabSz="914400"/>
            <a:r>
              <a:rPr lang="en-US" sz="1800" b="1" kern="0" dirty="0">
                <a:solidFill>
                  <a:srgbClr val="002060"/>
                </a:solidFill>
                <a:latin typeface="Trebuchet MS" panose="020B0603020202020204" pitchFamily="34" charset="0"/>
              </a:rPr>
              <a:t>NUTAN MAHARASHTRA INSTITUTE OF ENGINEERING &amp; TECHNOLOGY, PUNE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F8F98FA6-2B53-012F-3855-8C0259950A62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260"/>
          <a:stretch/>
        </p:blipFill>
        <p:spPr>
          <a:xfrm>
            <a:off x="289977" y="75380"/>
            <a:ext cx="873805" cy="855689"/>
          </a:xfrm>
          <a:prstGeom prst="rect">
            <a:avLst/>
          </a:prstGeom>
        </p:spPr>
      </p:pic>
      <p:pic>
        <p:nvPicPr>
          <p:cNvPr id="15" name="Picture 2" descr="PCET Trust Logo">
            <a:extLst>
              <a:ext uri="{FF2B5EF4-FFF2-40B4-BE49-F238E27FC236}">
                <a16:creationId xmlns:a16="http://schemas.microsoft.com/office/drawing/2014/main" id="{F198D8A1-E2F2-97B5-DFF7-D93F4E3C34E8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84"/>
          <a:stretch/>
        </p:blipFill>
        <p:spPr bwMode="auto">
          <a:xfrm>
            <a:off x="11174681" y="112598"/>
            <a:ext cx="827038" cy="85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80BF8D64-26EA-DA9D-DE1C-03FB593E332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z="1600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fld>
            <a:endParaRPr lang="en-US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7E369D6-2BF5-6A3F-429E-A56B222997DC}"/>
              </a:ext>
            </a:extLst>
          </p:cNvPr>
          <p:cNvGrpSpPr/>
          <p:nvPr/>
        </p:nvGrpSpPr>
        <p:grpSpPr>
          <a:xfrm>
            <a:off x="10002575" y="1496749"/>
            <a:ext cx="2951499" cy="4236154"/>
            <a:chOff x="9684743" y="1095259"/>
            <a:chExt cx="3874878" cy="4769414"/>
          </a:xfrm>
          <a:blipFill dpi="0" rotWithShape="1">
            <a:blip r:embed="rId5">
              <a:alphaModFix amt="39000"/>
            </a:blip>
            <a:srcRect/>
            <a:stretch>
              <a:fillRect/>
            </a:stretch>
          </a:blipFill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291AC21-89C5-BC2E-0950-D50A5DBFBB05}"/>
                </a:ext>
              </a:extLst>
            </p:cNvPr>
            <p:cNvGrpSpPr/>
            <p:nvPr/>
          </p:nvGrpSpPr>
          <p:grpSpPr>
            <a:xfrm>
              <a:off x="9684743" y="1095259"/>
              <a:ext cx="3874878" cy="3328889"/>
              <a:chOff x="9467767" y="1405229"/>
              <a:chExt cx="3874878" cy="3328889"/>
            </a:xfrm>
            <a:grp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F717F2C7-8A7F-F368-5A45-2C52627335BC}"/>
                  </a:ext>
                </a:extLst>
              </p:cNvPr>
              <p:cNvSpPr/>
              <p:nvPr/>
            </p:nvSpPr>
            <p:spPr>
              <a:xfrm rot="20333433">
                <a:off x="10503919" y="14052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F5F499B-E67A-C17B-732D-BD48ACE9758C}"/>
                  </a:ext>
                </a:extLst>
              </p:cNvPr>
              <p:cNvSpPr/>
              <p:nvPr/>
            </p:nvSpPr>
            <p:spPr>
              <a:xfrm rot="20333433">
                <a:off x="9467767" y="2806885"/>
                <a:ext cx="3413826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47D7C8AE-C032-A4BD-A120-90D56C4F9687}"/>
                  </a:ext>
                </a:extLst>
              </p:cNvPr>
              <p:cNvSpPr/>
              <p:nvPr/>
            </p:nvSpPr>
            <p:spPr>
              <a:xfrm rot="20333433">
                <a:off x="10660793" y="37545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DB1B2E51-C16B-D658-648F-0B58D4AB9867}"/>
                </a:ext>
              </a:extLst>
            </p:cNvPr>
            <p:cNvSpPr/>
            <p:nvPr/>
          </p:nvSpPr>
          <p:spPr>
            <a:xfrm rot="20333433">
              <a:off x="9837143" y="4885084"/>
              <a:ext cx="3413826" cy="97958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B1D3263D-B428-5DB9-610C-CD75BBA3EDB4}"/>
              </a:ext>
            </a:extLst>
          </p:cNvPr>
          <p:cNvSpPr txBox="1"/>
          <p:nvPr/>
        </p:nvSpPr>
        <p:spPr>
          <a:xfrm>
            <a:off x="403123" y="1274224"/>
            <a:ext cx="8465575" cy="338554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>
              <a:buNone/>
            </a:pPr>
            <a:r>
              <a:rPr lang="en-US" sz="2800" b="1" i="0" dirty="0">
                <a:effectLst/>
                <a:latin typeface="fkGrotesk"/>
              </a:rPr>
              <a:t>Motivation</a:t>
            </a:r>
          </a:p>
          <a:p>
            <a:pPr algn="l">
              <a:buNone/>
            </a:pPr>
            <a:endParaRPr lang="en-US" sz="2400" b="1" i="0" dirty="0">
              <a:effectLst/>
              <a:latin typeface="fkGrotesk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fkGroteskNeue"/>
              </a:rPr>
              <a:t> Deepfakes are fake videos and voices made using AI.</a:t>
            </a:r>
          </a:p>
          <a:p>
            <a:pPr algn="l"/>
            <a:endParaRPr lang="en-US" sz="2400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fkGroteskNeue"/>
              </a:rPr>
              <a:t> They can spread lies, cause harm, and cheat people.</a:t>
            </a:r>
          </a:p>
          <a:p>
            <a:pPr algn="l"/>
            <a:endParaRPr lang="en-US" sz="2400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fkGroteskNeue"/>
              </a:rPr>
              <a:t> We need good ways to find and </a:t>
            </a:r>
          </a:p>
          <a:p>
            <a:pPr algn="l"/>
            <a:r>
              <a:rPr lang="en-US" sz="2400" dirty="0">
                <a:latin typeface="fkGroteskNeue"/>
              </a:rPr>
              <a:t>    </a:t>
            </a:r>
            <a:r>
              <a:rPr lang="en-US" sz="2400" b="0" i="0" dirty="0">
                <a:effectLst/>
                <a:latin typeface="fkGroteskNeue"/>
              </a:rPr>
              <a:t>stop them.</a:t>
            </a:r>
          </a:p>
          <a:p>
            <a:endParaRPr lang="en-IN" dirty="0"/>
          </a:p>
        </p:txBody>
      </p:sp>
      <p:pic>
        <p:nvPicPr>
          <p:cNvPr id="1026" name="Picture 2" descr="Number of deepfake contents from 2018 to Sep 2025">
            <a:extLst>
              <a:ext uri="{FF2B5EF4-FFF2-40B4-BE49-F238E27FC236}">
                <a16:creationId xmlns:a16="http://schemas.microsoft.com/office/drawing/2014/main" id="{3E361B1C-1AE3-5152-EF94-CDCAC51F33D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420741" y="3310192"/>
            <a:ext cx="4258597" cy="283906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20371117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C013FAF-1FFE-47CC-B82E-51B801DDAE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arallelogram 3">
            <a:extLst>
              <a:ext uri="{FF2B5EF4-FFF2-40B4-BE49-F238E27FC236}">
                <a16:creationId xmlns:a16="http://schemas.microsoft.com/office/drawing/2014/main" id="{2CA39890-9353-E792-25EC-51395909F173}"/>
              </a:ext>
            </a:extLst>
          </p:cNvPr>
          <p:cNvSpPr/>
          <p:nvPr/>
        </p:nvSpPr>
        <p:spPr>
          <a:xfrm flipV="1">
            <a:off x="9830506" y="6351744"/>
            <a:ext cx="2387680" cy="51124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2053969 w 6332826"/>
              <a:gd name="connsiteY3" fmla="*/ 1462343 h 1508526"/>
              <a:gd name="connsiteX4" fmla="*/ 0 w 6332826"/>
              <a:gd name="connsiteY4" fmla="*/ 1508526 h 1508526"/>
              <a:gd name="connsiteX0" fmla="*/ 0 w 2099585"/>
              <a:gd name="connsiteY0" fmla="*/ 1523395 h 1523395"/>
              <a:gd name="connsiteX1" fmla="*/ 377132 w 2099585"/>
              <a:gd name="connsiteY1" fmla="*/ 14869 h 1523395"/>
              <a:gd name="connsiteX2" fmla="*/ 2099585 w 2099585"/>
              <a:gd name="connsiteY2" fmla="*/ 0 h 1523395"/>
              <a:gd name="connsiteX3" fmla="*/ 2053969 w 2099585"/>
              <a:gd name="connsiteY3" fmla="*/ 1477212 h 1523395"/>
              <a:gd name="connsiteX4" fmla="*/ 0 w 2099585"/>
              <a:gd name="connsiteY4" fmla="*/ 1523395 h 1523395"/>
              <a:gd name="connsiteX0" fmla="*/ 0 w 2122866"/>
              <a:gd name="connsiteY0" fmla="*/ 1523395 h 1523395"/>
              <a:gd name="connsiteX1" fmla="*/ 377132 w 2122866"/>
              <a:gd name="connsiteY1" fmla="*/ 14869 h 1523395"/>
              <a:gd name="connsiteX2" fmla="*/ 2099585 w 2122866"/>
              <a:gd name="connsiteY2" fmla="*/ 0 h 1523395"/>
              <a:gd name="connsiteX3" fmla="*/ 2122866 w 2122866"/>
              <a:gd name="connsiteY3" fmla="*/ 1523392 h 1523395"/>
              <a:gd name="connsiteX4" fmla="*/ 0 w 2122866"/>
              <a:gd name="connsiteY4" fmla="*/ 1523395 h 1523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2866" h="1523395">
                <a:moveTo>
                  <a:pt x="0" y="1523395"/>
                </a:moveTo>
                <a:lnTo>
                  <a:pt x="377132" y="14869"/>
                </a:lnTo>
                <a:lnTo>
                  <a:pt x="2099585" y="0"/>
                </a:lnTo>
                <a:lnTo>
                  <a:pt x="2122866" y="1523392"/>
                </a:lnTo>
                <a:lnTo>
                  <a:pt x="0" y="1523395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445AD172-DD9A-FF8C-BEED-E5966ADE7202}"/>
              </a:ext>
            </a:extLst>
          </p:cNvPr>
          <p:cNvSpPr/>
          <p:nvPr/>
        </p:nvSpPr>
        <p:spPr>
          <a:xfrm>
            <a:off x="0" y="1015168"/>
            <a:ext cx="12693112" cy="45719"/>
          </a:xfrm>
          <a:prstGeom prst="roundRect">
            <a:avLst/>
          </a:prstGeom>
          <a:gradFill flip="none" rotWithShape="1">
            <a:gsLst>
              <a:gs pos="0">
                <a:srgbClr val="FF0000"/>
              </a:gs>
              <a:gs pos="27000">
                <a:srgbClr val="E77179"/>
              </a:gs>
              <a:gs pos="90000">
                <a:srgbClr val="0066FF"/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3">
            <a:extLst>
              <a:ext uri="{FF2B5EF4-FFF2-40B4-BE49-F238E27FC236}">
                <a16:creationId xmlns:a16="http://schemas.microsoft.com/office/drawing/2014/main" id="{68239F8E-A8B8-709D-AA66-0097850AB6CE}"/>
              </a:ext>
            </a:extLst>
          </p:cNvPr>
          <p:cNvSpPr/>
          <p:nvPr/>
        </p:nvSpPr>
        <p:spPr>
          <a:xfrm flipH="1">
            <a:off x="-1" y="6351744"/>
            <a:ext cx="7280119" cy="50625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32826" h="1508526">
                <a:moveTo>
                  <a:pt x="0" y="1508526"/>
                </a:moveTo>
                <a:lnTo>
                  <a:pt x="377132" y="0"/>
                </a:lnTo>
                <a:lnTo>
                  <a:pt x="6332826" y="77491"/>
                </a:lnTo>
                <a:lnTo>
                  <a:pt x="6327654" y="1508526"/>
                </a:lnTo>
                <a:lnTo>
                  <a:pt x="0" y="1508526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C16A079-97CD-757B-1190-79F941D1B178}"/>
              </a:ext>
            </a:extLst>
          </p:cNvPr>
          <p:cNvSpPr txBox="1"/>
          <p:nvPr/>
        </p:nvSpPr>
        <p:spPr>
          <a:xfrm>
            <a:off x="186360" y="6420206"/>
            <a:ext cx="6879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rebuchet MS" panose="020B0603020202020204" pitchFamily="34" charset="0"/>
              </a:rPr>
              <a:t>Department of Computer Engineering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16F86C08-F43D-DC70-A4D8-0E610B38C5EA}"/>
              </a:ext>
            </a:extLst>
          </p:cNvPr>
          <p:cNvSpPr txBox="1"/>
          <p:nvPr/>
        </p:nvSpPr>
        <p:spPr>
          <a:xfrm>
            <a:off x="7653397" y="6425917"/>
            <a:ext cx="2755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https://www.nmiet.edu.in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FBA720E-6C29-3888-8477-A95FB66367C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68" t="20009" r="17839" b="24808"/>
          <a:stretch/>
        </p:blipFill>
        <p:spPr>
          <a:xfrm>
            <a:off x="7314815" y="6472880"/>
            <a:ext cx="334753" cy="316658"/>
          </a:xfrm>
          <a:prstGeom prst="rect">
            <a:avLst/>
          </a:prstGeom>
        </p:spPr>
      </p:pic>
      <p:sp>
        <p:nvSpPr>
          <p:cNvPr id="16" name="Google Shape;45;p1">
            <a:extLst>
              <a:ext uri="{FF2B5EF4-FFF2-40B4-BE49-F238E27FC236}">
                <a16:creationId xmlns:a16="http://schemas.microsoft.com/office/drawing/2014/main" id="{67D69067-BFD0-DA2D-AFFF-5F1B53240491}"/>
              </a:ext>
            </a:extLst>
          </p:cNvPr>
          <p:cNvSpPr txBox="1"/>
          <p:nvPr/>
        </p:nvSpPr>
        <p:spPr>
          <a:xfrm>
            <a:off x="3578165" y="48630"/>
            <a:ext cx="5536782" cy="321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algn="ctr" defTabSz="914400">
              <a:buClr>
                <a:srgbClr val="000000"/>
              </a:buClr>
            </a:pPr>
            <a:r>
              <a:rPr lang="en-US" sz="2000" b="1" kern="0" dirty="0">
                <a:solidFill>
                  <a:srgbClr val="C00000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Nutan Maharashtra Vidya Prasarak Mandal's</a:t>
            </a:r>
            <a:endParaRPr sz="2000" kern="0" dirty="0">
              <a:solidFill>
                <a:srgbClr val="C00000"/>
              </a:solidFill>
              <a:latin typeface="Trebuchet MS" panose="020B0603020202020204" pitchFamily="34" charset="0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46;p1">
            <a:extLst>
              <a:ext uri="{FF2B5EF4-FFF2-40B4-BE49-F238E27FC236}">
                <a16:creationId xmlns:a16="http://schemas.microsoft.com/office/drawing/2014/main" id="{91B2ED03-C4DF-81EE-F882-A9C8F6C43BF8}"/>
              </a:ext>
            </a:extLst>
          </p:cNvPr>
          <p:cNvSpPr txBox="1">
            <a:spLocks/>
          </p:cNvSpPr>
          <p:nvPr/>
        </p:nvSpPr>
        <p:spPr>
          <a:xfrm>
            <a:off x="1718118" y="511377"/>
            <a:ext cx="8890004" cy="2904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R="5080" algn="ctr" defTabSz="914400"/>
            <a:r>
              <a:rPr lang="en-US" sz="1800" b="1" kern="0" dirty="0">
                <a:solidFill>
                  <a:srgbClr val="002060"/>
                </a:solidFill>
                <a:latin typeface="Trebuchet MS" panose="020B0603020202020204" pitchFamily="34" charset="0"/>
              </a:rPr>
              <a:t>NUTAN MAHARASHTRA INSTITUTE OF ENGINEERING &amp; TECHNOLOGY, PUNE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7D913B3A-A3FE-D945-B1F1-839252532295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260"/>
          <a:stretch/>
        </p:blipFill>
        <p:spPr>
          <a:xfrm>
            <a:off x="289977" y="75380"/>
            <a:ext cx="873805" cy="855689"/>
          </a:xfrm>
          <a:prstGeom prst="rect">
            <a:avLst/>
          </a:prstGeom>
        </p:spPr>
      </p:pic>
      <p:pic>
        <p:nvPicPr>
          <p:cNvPr id="15" name="Picture 2" descr="PCET Trust Logo">
            <a:extLst>
              <a:ext uri="{FF2B5EF4-FFF2-40B4-BE49-F238E27FC236}">
                <a16:creationId xmlns:a16="http://schemas.microsoft.com/office/drawing/2014/main" id="{40E1B786-E2A0-54F4-93EF-9D8BFD92D2A3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84"/>
          <a:stretch/>
        </p:blipFill>
        <p:spPr bwMode="auto">
          <a:xfrm>
            <a:off x="11174681" y="112598"/>
            <a:ext cx="827038" cy="85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C269E1-4FEF-C25C-EA5C-81EC4205B4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z="1600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fld>
            <a:endParaRPr lang="en-US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73CB527-D36D-C7E4-CC75-1F9A136B310D}"/>
              </a:ext>
            </a:extLst>
          </p:cNvPr>
          <p:cNvGrpSpPr/>
          <p:nvPr/>
        </p:nvGrpSpPr>
        <p:grpSpPr>
          <a:xfrm>
            <a:off x="10002575" y="1496749"/>
            <a:ext cx="2951499" cy="4236154"/>
            <a:chOff x="9684743" y="1095259"/>
            <a:chExt cx="3874878" cy="4769414"/>
          </a:xfrm>
          <a:blipFill dpi="0" rotWithShape="1">
            <a:blip r:embed="rId5">
              <a:alphaModFix amt="39000"/>
            </a:blip>
            <a:srcRect/>
            <a:stretch>
              <a:fillRect/>
            </a:stretch>
          </a:blipFill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74ED7EA5-CAAD-9C0A-2A33-A0DD6FF257F0}"/>
                </a:ext>
              </a:extLst>
            </p:cNvPr>
            <p:cNvGrpSpPr/>
            <p:nvPr/>
          </p:nvGrpSpPr>
          <p:grpSpPr>
            <a:xfrm>
              <a:off x="9684743" y="1095259"/>
              <a:ext cx="3874878" cy="3328889"/>
              <a:chOff x="9467767" y="1405229"/>
              <a:chExt cx="3874878" cy="3328889"/>
            </a:xfrm>
            <a:grp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5FFF215-3AAD-EA9C-0423-A3F3379DE990}"/>
                  </a:ext>
                </a:extLst>
              </p:cNvPr>
              <p:cNvSpPr/>
              <p:nvPr/>
            </p:nvSpPr>
            <p:spPr>
              <a:xfrm rot="20333433">
                <a:off x="10503919" y="14052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F4593536-533A-1906-7689-F2F58A467E04}"/>
                  </a:ext>
                </a:extLst>
              </p:cNvPr>
              <p:cNvSpPr/>
              <p:nvPr/>
            </p:nvSpPr>
            <p:spPr>
              <a:xfrm rot="20333433">
                <a:off x="9467767" y="2806885"/>
                <a:ext cx="3413826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C93EB73-8E76-EBF1-892F-CA2A24F52356}"/>
                  </a:ext>
                </a:extLst>
              </p:cNvPr>
              <p:cNvSpPr/>
              <p:nvPr/>
            </p:nvSpPr>
            <p:spPr>
              <a:xfrm rot="20333433">
                <a:off x="10660793" y="37545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057FB4D3-827E-D0BE-1FD8-EC2344414FCC}"/>
                </a:ext>
              </a:extLst>
            </p:cNvPr>
            <p:cNvSpPr/>
            <p:nvPr/>
          </p:nvSpPr>
          <p:spPr>
            <a:xfrm rot="20333433">
              <a:off x="9837143" y="4885084"/>
              <a:ext cx="3413826" cy="97958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143D197D-3C47-CF26-3658-FCA5CBA5135C}"/>
              </a:ext>
            </a:extLst>
          </p:cNvPr>
          <p:cNvSpPr txBox="1"/>
          <p:nvPr/>
        </p:nvSpPr>
        <p:spPr>
          <a:xfrm>
            <a:off x="186360" y="1615142"/>
            <a:ext cx="9156324" cy="31085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800" b="1" i="0" dirty="0">
                <a:effectLst/>
                <a:latin typeface="fkGrotesk"/>
              </a:rPr>
              <a:t>Introduction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fkGroteskNeue"/>
              </a:rPr>
              <a:t> Deepfakes are fake images, videos, or audio made by computers</a:t>
            </a:r>
            <a:r>
              <a:rPr lang="en-US" sz="2400" dirty="0">
                <a:latin typeface="fkGroteskNeue"/>
              </a:rPr>
              <a:t>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fkGroteskNeue"/>
              </a:rPr>
              <a:t> They look and sound real, but are not genuine.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fkGroteskNeue"/>
              </a:rPr>
              <a:t> Many people can be fooled by deepfakes.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fkGroteskNeue"/>
              </a:rPr>
              <a:t> Detecting them is becoming very important.</a:t>
            </a: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670CFFE-FC65-F546-65B7-FBDD6DEEC87C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62726" y="2885253"/>
            <a:ext cx="5929274" cy="327082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1612920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0C3B10-3888-881A-FDA1-E1333A798C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arallelogram 3">
            <a:extLst>
              <a:ext uri="{FF2B5EF4-FFF2-40B4-BE49-F238E27FC236}">
                <a16:creationId xmlns:a16="http://schemas.microsoft.com/office/drawing/2014/main" id="{8B775A82-5999-E8A2-51CC-968BEE107DAB}"/>
              </a:ext>
            </a:extLst>
          </p:cNvPr>
          <p:cNvSpPr/>
          <p:nvPr/>
        </p:nvSpPr>
        <p:spPr>
          <a:xfrm flipV="1">
            <a:off x="9830506" y="6351744"/>
            <a:ext cx="2387680" cy="51124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2053969 w 6332826"/>
              <a:gd name="connsiteY3" fmla="*/ 1462343 h 1508526"/>
              <a:gd name="connsiteX4" fmla="*/ 0 w 6332826"/>
              <a:gd name="connsiteY4" fmla="*/ 1508526 h 1508526"/>
              <a:gd name="connsiteX0" fmla="*/ 0 w 2099585"/>
              <a:gd name="connsiteY0" fmla="*/ 1523395 h 1523395"/>
              <a:gd name="connsiteX1" fmla="*/ 377132 w 2099585"/>
              <a:gd name="connsiteY1" fmla="*/ 14869 h 1523395"/>
              <a:gd name="connsiteX2" fmla="*/ 2099585 w 2099585"/>
              <a:gd name="connsiteY2" fmla="*/ 0 h 1523395"/>
              <a:gd name="connsiteX3" fmla="*/ 2053969 w 2099585"/>
              <a:gd name="connsiteY3" fmla="*/ 1477212 h 1523395"/>
              <a:gd name="connsiteX4" fmla="*/ 0 w 2099585"/>
              <a:gd name="connsiteY4" fmla="*/ 1523395 h 1523395"/>
              <a:gd name="connsiteX0" fmla="*/ 0 w 2122866"/>
              <a:gd name="connsiteY0" fmla="*/ 1523395 h 1523395"/>
              <a:gd name="connsiteX1" fmla="*/ 377132 w 2122866"/>
              <a:gd name="connsiteY1" fmla="*/ 14869 h 1523395"/>
              <a:gd name="connsiteX2" fmla="*/ 2099585 w 2122866"/>
              <a:gd name="connsiteY2" fmla="*/ 0 h 1523395"/>
              <a:gd name="connsiteX3" fmla="*/ 2122866 w 2122866"/>
              <a:gd name="connsiteY3" fmla="*/ 1523392 h 1523395"/>
              <a:gd name="connsiteX4" fmla="*/ 0 w 2122866"/>
              <a:gd name="connsiteY4" fmla="*/ 1523395 h 1523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2866" h="1523395">
                <a:moveTo>
                  <a:pt x="0" y="1523395"/>
                </a:moveTo>
                <a:lnTo>
                  <a:pt x="377132" y="14869"/>
                </a:lnTo>
                <a:lnTo>
                  <a:pt x="2099585" y="0"/>
                </a:lnTo>
                <a:lnTo>
                  <a:pt x="2122866" y="1523392"/>
                </a:lnTo>
                <a:lnTo>
                  <a:pt x="0" y="1523395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067F673C-FD22-FA8D-D0C3-98469F9F6549}"/>
              </a:ext>
            </a:extLst>
          </p:cNvPr>
          <p:cNvSpPr/>
          <p:nvPr/>
        </p:nvSpPr>
        <p:spPr>
          <a:xfrm>
            <a:off x="0" y="1015168"/>
            <a:ext cx="12693112" cy="45719"/>
          </a:xfrm>
          <a:prstGeom prst="roundRect">
            <a:avLst/>
          </a:prstGeom>
          <a:gradFill flip="none" rotWithShape="1">
            <a:gsLst>
              <a:gs pos="0">
                <a:srgbClr val="FF0000"/>
              </a:gs>
              <a:gs pos="27000">
                <a:srgbClr val="E77179"/>
              </a:gs>
              <a:gs pos="90000">
                <a:srgbClr val="0066FF"/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3">
            <a:extLst>
              <a:ext uri="{FF2B5EF4-FFF2-40B4-BE49-F238E27FC236}">
                <a16:creationId xmlns:a16="http://schemas.microsoft.com/office/drawing/2014/main" id="{99271691-DEC2-E9E5-650F-A49E7430116A}"/>
              </a:ext>
            </a:extLst>
          </p:cNvPr>
          <p:cNvSpPr/>
          <p:nvPr/>
        </p:nvSpPr>
        <p:spPr>
          <a:xfrm flipH="1">
            <a:off x="-1" y="6351744"/>
            <a:ext cx="7280119" cy="50625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32826" h="1508526">
                <a:moveTo>
                  <a:pt x="0" y="1508526"/>
                </a:moveTo>
                <a:lnTo>
                  <a:pt x="377132" y="0"/>
                </a:lnTo>
                <a:lnTo>
                  <a:pt x="6332826" y="77491"/>
                </a:lnTo>
                <a:lnTo>
                  <a:pt x="6327654" y="1508526"/>
                </a:lnTo>
                <a:lnTo>
                  <a:pt x="0" y="1508526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F9250205-6890-7222-C515-699E9159A1E8}"/>
              </a:ext>
            </a:extLst>
          </p:cNvPr>
          <p:cNvSpPr txBox="1"/>
          <p:nvPr/>
        </p:nvSpPr>
        <p:spPr>
          <a:xfrm>
            <a:off x="186360" y="6420206"/>
            <a:ext cx="6879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rebuchet MS" panose="020B0603020202020204" pitchFamily="34" charset="0"/>
              </a:rPr>
              <a:t>Department of Computer Engineering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2547113C-126D-F747-9B15-AE07FC59D382}"/>
              </a:ext>
            </a:extLst>
          </p:cNvPr>
          <p:cNvSpPr txBox="1"/>
          <p:nvPr/>
        </p:nvSpPr>
        <p:spPr>
          <a:xfrm>
            <a:off x="7653397" y="6425917"/>
            <a:ext cx="2755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https://www.nmiet.edu.in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4DA43B09-805D-0C51-DFC1-F9A3AEC66202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68" t="20009" r="17839" b="24808"/>
          <a:stretch/>
        </p:blipFill>
        <p:spPr>
          <a:xfrm>
            <a:off x="7314815" y="6472880"/>
            <a:ext cx="334753" cy="316658"/>
          </a:xfrm>
          <a:prstGeom prst="rect">
            <a:avLst/>
          </a:prstGeom>
        </p:spPr>
      </p:pic>
      <p:sp>
        <p:nvSpPr>
          <p:cNvPr id="16" name="Google Shape;45;p1">
            <a:extLst>
              <a:ext uri="{FF2B5EF4-FFF2-40B4-BE49-F238E27FC236}">
                <a16:creationId xmlns:a16="http://schemas.microsoft.com/office/drawing/2014/main" id="{47468CF6-A33E-ADD0-3F5B-64028E2639BE}"/>
              </a:ext>
            </a:extLst>
          </p:cNvPr>
          <p:cNvSpPr txBox="1"/>
          <p:nvPr/>
        </p:nvSpPr>
        <p:spPr>
          <a:xfrm>
            <a:off x="3578165" y="48630"/>
            <a:ext cx="5536782" cy="321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algn="ctr" defTabSz="914400">
              <a:buClr>
                <a:srgbClr val="000000"/>
              </a:buClr>
            </a:pPr>
            <a:r>
              <a:rPr lang="en-US" sz="2000" b="1" kern="0" dirty="0">
                <a:solidFill>
                  <a:srgbClr val="C00000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Nutan Maharashtra Vidya Prasarak Mandal's</a:t>
            </a:r>
            <a:endParaRPr sz="2000" kern="0" dirty="0">
              <a:solidFill>
                <a:srgbClr val="C00000"/>
              </a:solidFill>
              <a:latin typeface="Trebuchet MS" panose="020B0603020202020204" pitchFamily="34" charset="0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46;p1">
            <a:extLst>
              <a:ext uri="{FF2B5EF4-FFF2-40B4-BE49-F238E27FC236}">
                <a16:creationId xmlns:a16="http://schemas.microsoft.com/office/drawing/2014/main" id="{FD616E1F-E06B-671D-AF40-4B24267E597D}"/>
              </a:ext>
            </a:extLst>
          </p:cNvPr>
          <p:cNvSpPr txBox="1">
            <a:spLocks/>
          </p:cNvSpPr>
          <p:nvPr/>
        </p:nvSpPr>
        <p:spPr>
          <a:xfrm>
            <a:off x="1718118" y="511377"/>
            <a:ext cx="8890004" cy="2904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R="5080" algn="ctr" defTabSz="914400"/>
            <a:r>
              <a:rPr lang="en-US" sz="1800" b="1" kern="0" dirty="0">
                <a:solidFill>
                  <a:srgbClr val="002060"/>
                </a:solidFill>
                <a:latin typeface="Trebuchet MS" panose="020B0603020202020204" pitchFamily="34" charset="0"/>
              </a:rPr>
              <a:t>NUTAN MAHARASHTRA INSTITUTE OF ENGINEERING &amp; TECHNOLOGY, PUNE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B597266-DD07-4D82-AB72-14C53B42D659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260"/>
          <a:stretch/>
        </p:blipFill>
        <p:spPr>
          <a:xfrm>
            <a:off x="289977" y="75380"/>
            <a:ext cx="873805" cy="855689"/>
          </a:xfrm>
          <a:prstGeom prst="rect">
            <a:avLst/>
          </a:prstGeom>
        </p:spPr>
      </p:pic>
      <p:pic>
        <p:nvPicPr>
          <p:cNvPr id="15" name="Picture 2" descr="PCET Trust Logo">
            <a:extLst>
              <a:ext uri="{FF2B5EF4-FFF2-40B4-BE49-F238E27FC236}">
                <a16:creationId xmlns:a16="http://schemas.microsoft.com/office/drawing/2014/main" id="{D0696856-9CB8-944C-E9FF-4BA51336AEB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84"/>
          <a:stretch/>
        </p:blipFill>
        <p:spPr bwMode="auto">
          <a:xfrm>
            <a:off x="11174681" y="112598"/>
            <a:ext cx="827038" cy="85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799C01-748A-190C-AC56-7A5C2E8BF6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z="1600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fld>
            <a:endParaRPr lang="en-US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5C6A5B79-29A1-8FF1-6EC9-D6B00C283622}"/>
              </a:ext>
            </a:extLst>
          </p:cNvPr>
          <p:cNvGrpSpPr/>
          <p:nvPr/>
        </p:nvGrpSpPr>
        <p:grpSpPr>
          <a:xfrm>
            <a:off x="10002575" y="1496749"/>
            <a:ext cx="2951499" cy="4236154"/>
            <a:chOff x="9684743" y="1095259"/>
            <a:chExt cx="3874878" cy="4769414"/>
          </a:xfrm>
          <a:blipFill dpi="0" rotWithShape="1">
            <a:blip r:embed="rId5">
              <a:alphaModFix amt="39000"/>
            </a:blip>
            <a:srcRect/>
            <a:stretch>
              <a:fillRect/>
            </a:stretch>
          </a:blipFill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F6C1B3BF-D82B-1571-9A88-D3DE53E95E31}"/>
                </a:ext>
              </a:extLst>
            </p:cNvPr>
            <p:cNvGrpSpPr/>
            <p:nvPr/>
          </p:nvGrpSpPr>
          <p:grpSpPr>
            <a:xfrm>
              <a:off x="9684743" y="1095259"/>
              <a:ext cx="3874878" cy="3328889"/>
              <a:chOff x="9467767" y="1405229"/>
              <a:chExt cx="3874878" cy="3328889"/>
            </a:xfrm>
            <a:grp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80EE051-923E-A554-48CB-D4AB94EF5A2D}"/>
                  </a:ext>
                </a:extLst>
              </p:cNvPr>
              <p:cNvSpPr/>
              <p:nvPr/>
            </p:nvSpPr>
            <p:spPr>
              <a:xfrm rot="20333433">
                <a:off x="10503919" y="14052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5C02F670-5415-CBE1-327F-DCD612727992}"/>
                  </a:ext>
                </a:extLst>
              </p:cNvPr>
              <p:cNvSpPr/>
              <p:nvPr/>
            </p:nvSpPr>
            <p:spPr>
              <a:xfrm rot="20333433">
                <a:off x="9467767" y="2806885"/>
                <a:ext cx="3413826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12040BBA-89BE-8FCE-D287-5C3224B0839B}"/>
                  </a:ext>
                </a:extLst>
              </p:cNvPr>
              <p:cNvSpPr/>
              <p:nvPr/>
            </p:nvSpPr>
            <p:spPr>
              <a:xfrm rot="20333433">
                <a:off x="10660793" y="37545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F157BB54-62DC-8951-00D0-51CFFE82B89F}"/>
                </a:ext>
              </a:extLst>
            </p:cNvPr>
            <p:cNvSpPr/>
            <p:nvPr/>
          </p:nvSpPr>
          <p:spPr>
            <a:xfrm rot="20333433">
              <a:off x="9837143" y="4885084"/>
              <a:ext cx="3413826" cy="97958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F56EA90E-53CB-7E36-E65E-1E1B09D78E19}"/>
              </a:ext>
            </a:extLst>
          </p:cNvPr>
          <p:cNvSpPr txBox="1"/>
          <p:nvPr/>
        </p:nvSpPr>
        <p:spPr>
          <a:xfrm>
            <a:off x="186360" y="1158089"/>
            <a:ext cx="9156324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2400" b="1">
                <a:latin typeface="fkGrotesk"/>
              </a:rPr>
              <a:t>Literature Survey</a:t>
            </a:r>
            <a:endParaRPr lang="en-US" sz="2400" b="1" dirty="0">
              <a:latin typeface="fkGrotesk"/>
            </a:endParaRPr>
          </a:p>
        </p:txBody>
      </p:sp>
      <p:graphicFrame>
        <p:nvGraphicFramePr>
          <p:cNvPr id="2" name="Table 1">
            <a:extLst>
              <a:ext uri="{FF2B5EF4-FFF2-40B4-BE49-F238E27FC236}">
                <a16:creationId xmlns:a16="http://schemas.microsoft.com/office/drawing/2014/main" id="{44044952-253C-B07B-58CB-374064942C4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657674552"/>
              </p:ext>
            </p:extLst>
          </p:nvPr>
        </p:nvGraphicFramePr>
        <p:xfrm>
          <a:off x="493851" y="1682186"/>
          <a:ext cx="9242600" cy="4599037"/>
        </p:xfrm>
        <a:graphic>
          <a:graphicData uri="http://schemas.openxmlformats.org/drawingml/2006/table">
            <a:tbl>
              <a:tblPr/>
              <a:tblGrid>
                <a:gridCol w="1643841">
                  <a:extLst>
                    <a:ext uri="{9D8B030D-6E8A-4147-A177-3AD203B41FA5}">
                      <a16:colId xmlns:a16="http://schemas.microsoft.com/office/drawing/2014/main" val="3130566735"/>
                    </a:ext>
                  </a:extLst>
                </a:gridCol>
                <a:gridCol w="1643841">
                  <a:extLst>
                    <a:ext uri="{9D8B030D-6E8A-4147-A177-3AD203B41FA5}">
                      <a16:colId xmlns:a16="http://schemas.microsoft.com/office/drawing/2014/main" val="1051653903"/>
                    </a:ext>
                  </a:extLst>
                </a:gridCol>
                <a:gridCol w="2250194">
                  <a:extLst>
                    <a:ext uri="{9D8B030D-6E8A-4147-A177-3AD203B41FA5}">
                      <a16:colId xmlns:a16="http://schemas.microsoft.com/office/drawing/2014/main" val="3638263207"/>
                    </a:ext>
                  </a:extLst>
                </a:gridCol>
                <a:gridCol w="1568667">
                  <a:extLst>
                    <a:ext uri="{9D8B030D-6E8A-4147-A177-3AD203B41FA5}">
                      <a16:colId xmlns:a16="http://schemas.microsoft.com/office/drawing/2014/main" val="1812787741"/>
                    </a:ext>
                  </a:extLst>
                </a:gridCol>
                <a:gridCol w="2136057">
                  <a:extLst>
                    <a:ext uri="{9D8B030D-6E8A-4147-A177-3AD203B41FA5}">
                      <a16:colId xmlns:a16="http://schemas.microsoft.com/office/drawing/2014/main" val="1637807058"/>
                    </a:ext>
                  </a:extLst>
                </a:gridCol>
              </a:tblGrid>
              <a:tr h="353937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Title</a:t>
                      </a:r>
                      <a:endParaRPr lang="en-IN" dirty="0"/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Author &amp; Year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Methodology (short)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 dirty="0"/>
                        <a:t>Advantages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b="1"/>
                        <a:t>Gaps / Drawbacks</a:t>
                      </a:r>
                      <a:endParaRPr lang="en-IN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1345756"/>
                  </a:ext>
                </a:extLst>
              </a:tr>
              <a:tr h="1597133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Visual Deepfake Detection: Review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Ahmed et al., 2024–25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Systematic review by feature domain (spatial, temporal, freq., spatio-temporal)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Up-to-date, structured synthesis, covers tools &amp; datasets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Poor real-world generalization, dataset dependence, no unified benchmark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385033270"/>
                  </a:ext>
                </a:extLst>
              </a:tr>
              <a:tr h="1447424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DFFMD: Deepfake Face Mask Dataset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Alnaim et al., 2023</a:t>
                      </a:r>
                      <a:endParaRPr lang="en-IN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Masked-face dataset + Inception ResNet v2–based detector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High accuracy (≈99.8%), first on masked deepfakes</a:t>
                      </a:r>
                      <a:endParaRPr lang="en-US" dirty="0"/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Limited dataset diversity, weak generalization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0214488"/>
                  </a:ext>
                </a:extLst>
              </a:tr>
              <a:tr h="1141245"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 dirty="0"/>
                        <a:t>Deepfake Generation &amp; Detection</a:t>
                      </a:r>
                    </a:p>
                  </a:txBody>
                  <a:tcPr anchor="ctr">
                    <a:lnL>
                      <a:noFill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IN"/>
                        <a:t>Patel et al., 2023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Multimodal survey (image/video/audio) + case study (IBMM)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/>
                        <a:t>Broad coverage, links generation &amp; detection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>
                        <a:buNone/>
                      </a:pPr>
                      <a:r>
                        <a:rPr lang="en-US" dirty="0"/>
                        <a:t>High computation, dataset scarcity, low real-world accuracy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380907488"/>
                  </a:ext>
                </a:extLst>
              </a:tr>
            </a:tbl>
          </a:graphicData>
        </a:graphic>
      </p:graphicFrame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DFD6713A-CD80-33DD-B1C3-463871D3513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21602164"/>
              </p:ext>
            </p:extLst>
          </p:nvPr>
        </p:nvGraphicFramePr>
        <p:xfrm>
          <a:off x="465949" y="1727200"/>
          <a:ext cx="9298440" cy="365760"/>
        </p:xfrm>
        <a:graphic>
          <a:graphicData uri="http://schemas.openxmlformats.org/drawingml/2006/table">
            <a:tbl>
              <a:tblPr/>
              <a:tblGrid>
                <a:gridCol w="9298440">
                  <a:extLst>
                    <a:ext uri="{9D8B030D-6E8A-4147-A177-3AD203B41FA5}">
                      <a16:colId xmlns:a16="http://schemas.microsoft.com/office/drawing/2014/main" val="2610697460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en-IN" dirty="0"/>
                    </a:p>
                  </a:txBody>
                  <a:tcPr>
                    <a:lnL w="12700" cmpd="sng">
                      <a:solidFill>
                        <a:schemeClr val="tx1"/>
                      </a:solidFill>
                      <a:prstDash val="solid"/>
                    </a:lnL>
                    <a:lnR w="12700" cmpd="sng">
                      <a:solidFill>
                        <a:schemeClr val="tx1"/>
                      </a:solidFill>
                      <a:prstDash val="solid"/>
                    </a:lnR>
                    <a:lnT w="12700" cmpd="sng">
                      <a:solidFill>
                        <a:schemeClr val="tx1"/>
                      </a:solidFill>
                      <a:prstDash val="solid"/>
                    </a:lnT>
                    <a:lnB w="12700" cmpd="sng">
                      <a:solidFill>
                        <a:schemeClr val="tx1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942167542"/>
                  </a:ext>
                </a:extLst>
              </a:tr>
            </a:tbl>
          </a:graphicData>
        </a:graphic>
      </p:graphicFrame>
      <mc:AlternateContent xmlns:mc="http://schemas.openxmlformats.org/markup-compatibility/2006" xmlns:p14="http://schemas.microsoft.com/office/powerpoint/2010/main">
        <mc:Choice Requires="p14">
          <p:contentPart p14:bwMode="auto" r:id="rId6">
            <p14:nvContentPartPr>
              <p14:cNvPr id="18" name="Ink 17">
                <a:extLst>
                  <a:ext uri="{FF2B5EF4-FFF2-40B4-BE49-F238E27FC236}">
                    <a16:creationId xmlns:a16="http://schemas.microsoft.com/office/drawing/2014/main" id="{82EE1E72-725F-FECB-05CD-C2511E9BE06E}"/>
                  </a:ext>
                </a:extLst>
              </p14:cNvPr>
              <p14:cNvContentPartPr/>
              <p14:nvPr/>
            </p14:nvContentPartPr>
            <p14:xfrm>
              <a:off x="539071" y="3617885"/>
              <a:ext cx="9270429" cy="364"/>
            </p14:xfrm>
          </p:contentPart>
        </mc:Choice>
        <mc:Fallback xmlns="">
          <p:pic>
            <p:nvPicPr>
              <p:cNvPr id="18" name="Ink 17">
                <a:extLst>
                  <a:ext uri="{FF2B5EF4-FFF2-40B4-BE49-F238E27FC236}">
                    <a16:creationId xmlns:a16="http://schemas.microsoft.com/office/drawing/2014/main" id="{82EE1E72-725F-FECB-05CD-C2511E9BE06E}"/>
                  </a:ext>
                </a:extLst>
              </p:cNvPr>
              <p:cNvPicPr/>
              <p:nvPr/>
            </p:nvPicPr>
            <p:blipFill>
              <a:blip r:embed="rId7"/>
              <a:stretch>
                <a:fillRect/>
              </a:stretch>
            </p:blipFill>
            <p:spPr>
              <a:xfrm>
                <a:off x="532951" y="3611697"/>
                <a:ext cx="9282669" cy="127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8">
            <p14:nvContentPartPr>
              <p14:cNvPr id="19" name="Ink 18">
                <a:extLst>
                  <a:ext uri="{FF2B5EF4-FFF2-40B4-BE49-F238E27FC236}">
                    <a16:creationId xmlns:a16="http://schemas.microsoft.com/office/drawing/2014/main" id="{54604A84-D0FC-0EBF-FDDC-CF3A7B028A92}"/>
                  </a:ext>
                </a:extLst>
              </p14:cNvPr>
              <p14:cNvContentPartPr/>
              <p14:nvPr/>
            </p14:nvContentPartPr>
            <p14:xfrm>
              <a:off x="442573" y="5073234"/>
              <a:ext cx="9205560" cy="360"/>
            </p14:xfrm>
          </p:contentPart>
        </mc:Choice>
        <mc:Fallback xmlns="">
          <p:pic>
            <p:nvPicPr>
              <p:cNvPr id="19" name="Ink 18">
                <a:extLst>
                  <a:ext uri="{FF2B5EF4-FFF2-40B4-BE49-F238E27FC236}">
                    <a16:creationId xmlns:a16="http://schemas.microsoft.com/office/drawing/2014/main" id="{54604A84-D0FC-0EBF-FDDC-CF3A7B028A92}"/>
                  </a:ext>
                </a:extLst>
              </p:cNvPr>
              <p:cNvPicPr/>
              <p:nvPr/>
            </p:nvPicPr>
            <p:blipFill>
              <a:blip r:embed="rId9"/>
              <a:stretch>
                <a:fillRect/>
              </a:stretch>
            </p:blipFill>
            <p:spPr>
              <a:xfrm>
                <a:off x="436453" y="5067114"/>
                <a:ext cx="921780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0">
            <p14:nvContentPartPr>
              <p14:cNvPr id="22" name="Ink 21">
                <a:extLst>
                  <a:ext uri="{FF2B5EF4-FFF2-40B4-BE49-F238E27FC236}">
                    <a16:creationId xmlns:a16="http://schemas.microsoft.com/office/drawing/2014/main" id="{2EC7A0DF-4D42-524A-35E0-A8375E23DA5C}"/>
                  </a:ext>
                </a:extLst>
              </p14:cNvPr>
              <p14:cNvContentPartPr/>
              <p14:nvPr/>
            </p14:nvContentPartPr>
            <p14:xfrm>
              <a:off x="438010" y="6229110"/>
              <a:ext cx="9298440" cy="360"/>
            </p14:xfrm>
          </p:contentPart>
        </mc:Choice>
        <mc:Fallback xmlns="">
          <p:pic>
            <p:nvPicPr>
              <p:cNvPr id="22" name="Ink 21">
                <a:extLst>
                  <a:ext uri="{FF2B5EF4-FFF2-40B4-BE49-F238E27FC236}">
                    <a16:creationId xmlns:a16="http://schemas.microsoft.com/office/drawing/2014/main" id="{2EC7A0DF-4D42-524A-35E0-A8375E23DA5C}"/>
                  </a:ext>
                </a:extLst>
              </p:cNvPr>
              <p:cNvPicPr/>
              <p:nvPr/>
            </p:nvPicPr>
            <p:blipFill>
              <a:blip r:embed="rId11"/>
              <a:stretch>
                <a:fillRect/>
              </a:stretch>
            </p:blipFill>
            <p:spPr>
              <a:xfrm>
                <a:off x="431890" y="6222990"/>
                <a:ext cx="9310680" cy="12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2">
            <p14:nvContentPartPr>
              <p14:cNvPr id="27" name="Ink 26">
                <a:extLst>
                  <a:ext uri="{FF2B5EF4-FFF2-40B4-BE49-F238E27FC236}">
                    <a16:creationId xmlns:a16="http://schemas.microsoft.com/office/drawing/2014/main" id="{BCEC677F-D2F2-D9BB-878D-54C737DD941E}"/>
                  </a:ext>
                </a:extLst>
              </p14:cNvPr>
              <p14:cNvContentPartPr/>
              <p14:nvPr/>
            </p14:nvContentPartPr>
            <p14:xfrm>
              <a:off x="464079" y="2123756"/>
              <a:ext cx="360" cy="4091040"/>
            </p14:xfrm>
          </p:contentPart>
        </mc:Choice>
        <mc:Fallback xmlns="">
          <p:pic>
            <p:nvPicPr>
              <p:cNvPr id="27" name="Ink 26">
                <a:extLst>
                  <a:ext uri="{FF2B5EF4-FFF2-40B4-BE49-F238E27FC236}">
                    <a16:creationId xmlns:a16="http://schemas.microsoft.com/office/drawing/2014/main" id="{BCEC677F-D2F2-D9BB-878D-54C737DD941E}"/>
                  </a:ext>
                </a:extLst>
              </p:cNvPr>
              <p:cNvPicPr/>
              <p:nvPr/>
            </p:nvPicPr>
            <p:blipFill>
              <a:blip r:embed="rId13"/>
              <a:stretch>
                <a:fillRect/>
              </a:stretch>
            </p:blipFill>
            <p:spPr>
              <a:xfrm>
                <a:off x="457959" y="2117636"/>
                <a:ext cx="12600" cy="4103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">
            <p14:nvContentPartPr>
              <p14:cNvPr id="29" name="Ink 28">
                <a:extLst>
                  <a:ext uri="{FF2B5EF4-FFF2-40B4-BE49-F238E27FC236}">
                    <a16:creationId xmlns:a16="http://schemas.microsoft.com/office/drawing/2014/main" id="{718FC643-CD9F-F1EE-7FD7-372D06CB26BD}"/>
                  </a:ext>
                </a:extLst>
              </p14:cNvPr>
              <p14:cNvContentPartPr/>
              <p14:nvPr/>
            </p14:nvContentPartPr>
            <p14:xfrm>
              <a:off x="9811839" y="6331436"/>
              <a:ext cx="360" cy="40320"/>
            </p14:xfrm>
          </p:contentPart>
        </mc:Choice>
        <mc:Fallback xmlns="">
          <p:pic>
            <p:nvPicPr>
              <p:cNvPr id="29" name="Ink 28">
                <a:extLst>
                  <a:ext uri="{FF2B5EF4-FFF2-40B4-BE49-F238E27FC236}">
                    <a16:creationId xmlns:a16="http://schemas.microsoft.com/office/drawing/2014/main" id="{718FC643-CD9F-F1EE-7FD7-372D06CB26BD}"/>
                  </a:ext>
                </a:extLst>
              </p:cNvPr>
              <p:cNvPicPr/>
              <p:nvPr/>
            </p:nvPicPr>
            <p:blipFill>
              <a:blip r:embed="rId15"/>
              <a:stretch>
                <a:fillRect/>
              </a:stretch>
            </p:blipFill>
            <p:spPr>
              <a:xfrm>
                <a:off x="9805719" y="6325316"/>
                <a:ext cx="12600" cy="52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">
            <p14:nvContentPartPr>
              <p14:cNvPr id="32" name="Ink 31">
                <a:extLst>
                  <a:ext uri="{FF2B5EF4-FFF2-40B4-BE49-F238E27FC236}">
                    <a16:creationId xmlns:a16="http://schemas.microsoft.com/office/drawing/2014/main" id="{FBF3D192-A835-7AA5-CD6D-06B88AEB556F}"/>
                  </a:ext>
                </a:extLst>
              </p14:cNvPr>
              <p14:cNvContentPartPr/>
              <p14:nvPr/>
            </p14:nvContentPartPr>
            <p14:xfrm>
              <a:off x="9757595" y="2079981"/>
              <a:ext cx="361" cy="4157855"/>
            </p14:xfrm>
          </p:contentPart>
        </mc:Choice>
        <mc:Fallback xmlns="">
          <p:pic>
            <p:nvPicPr>
              <p:cNvPr id="32" name="Ink 31">
                <a:extLst>
                  <a:ext uri="{FF2B5EF4-FFF2-40B4-BE49-F238E27FC236}">
                    <a16:creationId xmlns:a16="http://schemas.microsoft.com/office/drawing/2014/main" id="{FBF3D192-A835-7AA5-CD6D-06B88AEB556F}"/>
                  </a:ext>
                </a:extLst>
              </p:cNvPr>
              <p:cNvPicPr/>
              <p:nvPr/>
            </p:nvPicPr>
            <p:blipFill>
              <a:blip r:embed="rId17"/>
              <a:stretch>
                <a:fillRect/>
              </a:stretch>
            </p:blipFill>
            <p:spPr>
              <a:xfrm>
                <a:off x="9751458" y="2073861"/>
                <a:ext cx="12635" cy="4170095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">
            <p14:nvContentPartPr>
              <p14:cNvPr id="34" name="Ink 33">
                <a:extLst>
                  <a:ext uri="{FF2B5EF4-FFF2-40B4-BE49-F238E27FC236}">
                    <a16:creationId xmlns:a16="http://schemas.microsoft.com/office/drawing/2014/main" id="{F7732482-1EA0-EA0D-7B9F-91DB302AFED7}"/>
                  </a:ext>
                </a:extLst>
              </p14:cNvPr>
              <p14:cNvContentPartPr/>
              <p14:nvPr/>
            </p14:nvContentPartPr>
            <p14:xfrm>
              <a:off x="9561449" y="3714308"/>
              <a:ext cx="361" cy="364"/>
            </p14:xfrm>
          </p:contentPart>
        </mc:Choice>
        <mc:Fallback xmlns="">
          <p:pic>
            <p:nvPicPr>
              <p:cNvPr id="34" name="Ink 33">
                <a:extLst>
                  <a:ext uri="{FF2B5EF4-FFF2-40B4-BE49-F238E27FC236}">
                    <a16:creationId xmlns:a16="http://schemas.microsoft.com/office/drawing/2014/main" id="{F7732482-1EA0-EA0D-7B9F-91DB302AFED7}"/>
                  </a:ext>
                </a:extLst>
              </p:cNvPr>
              <p:cNvPicPr/>
              <p:nvPr/>
            </p:nvPicPr>
            <p:blipFill>
              <a:blip r:embed="rId19"/>
              <a:stretch>
                <a:fillRect/>
              </a:stretch>
            </p:blipFill>
            <p:spPr>
              <a:xfrm>
                <a:off x="9555312" y="3708120"/>
                <a:ext cx="12635" cy="12740"/>
              </a:xfrm>
              <a:prstGeom prst="rect">
                <a:avLst/>
              </a:prstGeom>
            </p:spPr>
          </p:pic>
        </mc:Fallback>
      </mc:AlternateContent>
    </p:spTree>
    <p:extLst>
      <p:ext uri="{BB962C8B-B14F-4D97-AF65-F5344CB8AC3E}">
        <p14:creationId xmlns:p14="http://schemas.microsoft.com/office/powerpoint/2010/main" val="40438103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B88F750-E428-70A9-A2BB-9CE1286216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arallelogram 3">
            <a:extLst>
              <a:ext uri="{FF2B5EF4-FFF2-40B4-BE49-F238E27FC236}">
                <a16:creationId xmlns:a16="http://schemas.microsoft.com/office/drawing/2014/main" id="{1A68087B-95C6-FAD9-91CB-CD957247901D}"/>
              </a:ext>
            </a:extLst>
          </p:cNvPr>
          <p:cNvSpPr/>
          <p:nvPr/>
        </p:nvSpPr>
        <p:spPr>
          <a:xfrm flipV="1">
            <a:off x="9830506" y="6351744"/>
            <a:ext cx="2387680" cy="51124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2053969 w 6332826"/>
              <a:gd name="connsiteY3" fmla="*/ 1462343 h 1508526"/>
              <a:gd name="connsiteX4" fmla="*/ 0 w 6332826"/>
              <a:gd name="connsiteY4" fmla="*/ 1508526 h 1508526"/>
              <a:gd name="connsiteX0" fmla="*/ 0 w 2099585"/>
              <a:gd name="connsiteY0" fmla="*/ 1523395 h 1523395"/>
              <a:gd name="connsiteX1" fmla="*/ 377132 w 2099585"/>
              <a:gd name="connsiteY1" fmla="*/ 14869 h 1523395"/>
              <a:gd name="connsiteX2" fmla="*/ 2099585 w 2099585"/>
              <a:gd name="connsiteY2" fmla="*/ 0 h 1523395"/>
              <a:gd name="connsiteX3" fmla="*/ 2053969 w 2099585"/>
              <a:gd name="connsiteY3" fmla="*/ 1477212 h 1523395"/>
              <a:gd name="connsiteX4" fmla="*/ 0 w 2099585"/>
              <a:gd name="connsiteY4" fmla="*/ 1523395 h 1523395"/>
              <a:gd name="connsiteX0" fmla="*/ 0 w 2122866"/>
              <a:gd name="connsiteY0" fmla="*/ 1523395 h 1523395"/>
              <a:gd name="connsiteX1" fmla="*/ 377132 w 2122866"/>
              <a:gd name="connsiteY1" fmla="*/ 14869 h 1523395"/>
              <a:gd name="connsiteX2" fmla="*/ 2099585 w 2122866"/>
              <a:gd name="connsiteY2" fmla="*/ 0 h 1523395"/>
              <a:gd name="connsiteX3" fmla="*/ 2122866 w 2122866"/>
              <a:gd name="connsiteY3" fmla="*/ 1523392 h 1523395"/>
              <a:gd name="connsiteX4" fmla="*/ 0 w 2122866"/>
              <a:gd name="connsiteY4" fmla="*/ 1523395 h 1523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2866" h="1523395">
                <a:moveTo>
                  <a:pt x="0" y="1523395"/>
                </a:moveTo>
                <a:lnTo>
                  <a:pt x="377132" y="14869"/>
                </a:lnTo>
                <a:lnTo>
                  <a:pt x="2099585" y="0"/>
                </a:lnTo>
                <a:lnTo>
                  <a:pt x="2122866" y="1523392"/>
                </a:lnTo>
                <a:lnTo>
                  <a:pt x="0" y="1523395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243EA22-EF05-E947-07E3-A8CB89CDC9CB}"/>
              </a:ext>
            </a:extLst>
          </p:cNvPr>
          <p:cNvSpPr/>
          <p:nvPr/>
        </p:nvSpPr>
        <p:spPr>
          <a:xfrm>
            <a:off x="0" y="1015168"/>
            <a:ext cx="12693112" cy="45719"/>
          </a:xfrm>
          <a:prstGeom prst="roundRect">
            <a:avLst/>
          </a:prstGeom>
          <a:gradFill flip="none" rotWithShape="1">
            <a:gsLst>
              <a:gs pos="0">
                <a:srgbClr val="FF0000"/>
              </a:gs>
              <a:gs pos="27000">
                <a:srgbClr val="E77179"/>
              </a:gs>
              <a:gs pos="90000">
                <a:srgbClr val="0066FF"/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3">
            <a:extLst>
              <a:ext uri="{FF2B5EF4-FFF2-40B4-BE49-F238E27FC236}">
                <a16:creationId xmlns:a16="http://schemas.microsoft.com/office/drawing/2014/main" id="{FC686A68-D221-3F5B-2EC6-97FFBB1A03D6}"/>
              </a:ext>
            </a:extLst>
          </p:cNvPr>
          <p:cNvSpPr/>
          <p:nvPr/>
        </p:nvSpPr>
        <p:spPr>
          <a:xfrm flipH="1">
            <a:off x="-1" y="6351744"/>
            <a:ext cx="7280119" cy="50625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32826" h="1508526">
                <a:moveTo>
                  <a:pt x="0" y="1508526"/>
                </a:moveTo>
                <a:lnTo>
                  <a:pt x="377132" y="0"/>
                </a:lnTo>
                <a:lnTo>
                  <a:pt x="6332826" y="77491"/>
                </a:lnTo>
                <a:lnTo>
                  <a:pt x="6327654" y="1508526"/>
                </a:lnTo>
                <a:lnTo>
                  <a:pt x="0" y="1508526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D1DDF8F-7582-5945-2D22-18365E6474D9}"/>
              </a:ext>
            </a:extLst>
          </p:cNvPr>
          <p:cNvSpPr txBox="1"/>
          <p:nvPr/>
        </p:nvSpPr>
        <p:spPr>
          <a:xfrm>
            <a:off x="186360" y="6420206"/>
            <a:ext cx="6879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rebuchet MS" panose="020B0603020202020204" pitchFamily="34" charset="0"/>
              </a:rPr>
              <a:t>Department of Computer Engineering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A348CA0-73D5-149F-C241-F9AD73196121}"/>
              </a:ext>
            </a:extLst>
          </p:cNvPr>
          <p:cNvSpPr txBox="1"/>
          <p:nvPr/>
        </p:nvSpPr>
        <p:spPr>
          <a:xfrm>
            <a:off x="7653397" y="6425917"/>
            <a:ext cx="2755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https://www.nmiet.edu.in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01A13E7-BB13-2DD8-08D2-5AC99CC6779A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68" t="20009" r="17839" b="24808"/>
          <a:stretch/>
        </p:blipFill>
        <p:spPr>
          <a:xfrm>
            <a:off x="7314815" y="6472880"/>
            <a:ext cx="334753" cy="316658"/>
          </a:xfrm>
          <a:prstGeom prst="rect">
            <a:avLst/>
          </a:prstGeom>
        </p:spPr>
      </p:pic>
      <p:sp>
        <p:nvSpPr>
          <p:cNvPr id="16" name="Google Shape;45;p1">
            <a:extLst>
              <a:ext uri="{FF2B5EF4-FFF2-40B4-BE49-F238E27FC236}">
                <a16:creationId xmlns:a16="http://schemas.microsoft.com/office/drawing/2014/main" id="{B8AC8374-A7CF-DEAC-7876-774E77FC22E4}"/>
              </a:ext>
            </a:extLst>
          </p:cNvPr>
          <p:cNvSpPr txBox="1"/>
          <p:nvPr/>
        </p:nvSpPr>
        <p:spPr>
          <a:xfrm>
            <a:off x="3578165" y="48630"/>
            <a:ext cx="5536782" cy="321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algn="ctr" defTabSz="914400">
              <a:buClr>
                <a:srgbClr val="000000"/>
              </a:buClr>
            </a:pPr>
            <a:r>
              <a:rPr lang="en-US" sz="2000" b="1" kern="0" dirty="0">
                <a:solidFill>
                  <a:srgbClr val="C00000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Nutan Maharashtra Vidya Prasarak Mandal's</a:t>
            </a:r>
            <a:endParaRPr sz="2000" kern="0" dirty="0">
              <a:solidFill>
                <a:srgbClr val="C00000"/>
              </a:solidFill>
              <a:latin typeface="Trebuchet MS" panose="020B0603020202020204" pitchFamily="34" charset="0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46;p1">
            <a:extLst>
              <a:ext uri="{FF2B5EF4-FFF2-40B4-BE49-F238E27FC236}">
                <a16:creationId xmlns:a16="http://schemas.microsoft.com/office/drawing/2014/main" id="{F5C7A1CD-24A2-EC10-A599-BD5591E4A3FF}"/>
              </a:ext>
            </a:extLst>
          </p:cNvPr>
          <p:cNvSpPr txBox="1">
            <a:spLocks/>
          </p:cNvSpPr>
          <p:nvPr/>
        </p:nvSpPr>
        <p:spPr>
          <a:xfrm>
            <a:off x="1718118" y="511377"/>
            <a:ext cx="8890004" cy="2904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R="5080" algn="ctr" defTabSz="914400"/>
            <a:r>
              <a:rPr lang="en-US" sz="1800" b="1" kern="0" dirty="0">
                <a:solidFill>
                  <a:srgbClr val="002060"/>
                </a:solidFill>
                <a:latin typeface="Trebuchet MS" panose="020B0603020202020204" pitchFamily="34" charset="0"/>
              </a:rPr>
              <a:t>NUTAN MAHARASHTRA INSTITUTE OF ENGINEERING &amp; TECHNOLOGY, PUNE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C31A16DC-7BF9-8684-8DA5-26CD76E753EF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260"/>
          <a:stretch/>
        </p:blipFill>
        <p:spPr>
          <a:xfrm>
            <a:off x="289977" y="75380"/>
            <a:ext cx="873805" cy="855689"/>
          </a:xfrm>
          <a:prstGeom prst="rect">
            <a:avLst/>
          </a:prstGeom>
        </p:spPr>
      </p:pic>
      <p:pic>
        <p:nvPicPr>
          <p:cNvPr id="15" name="Picture 2" descr="PCET Trust Logo">
            <a:extLst>
              <a:ext uri="{FF2B5EF4-FFF2-40B4-BE49-F238E27FC236}">
                <a16:creationId xmlns:a16="http://schemas.microsoft.com/office/drawing/2014/main" id="{0F25BF7B-F2F9-AB87-9E9F-EE2A1389594A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84"/>
          <a:stretch/>
        </p:blipFill>
        <p:spPr bwMode="auto">
          <a:xfrm>
            <a:off x="11174681" y="112598"/>
            <a:ext cx="827038" cy="85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A8296C5-6B36-4308-9EF2-258B5F14E74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z="1600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fld>
            <a:endParaRPr lang="en-US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D51569B4-1BD1-4FB6-B8CC-7DC56077D788}"/>
              </a:ext>
            </a:extLst>
          </p:cNvPr>
          <p:cNvGrpSpPr/>
          <p:nvPr/>
        </p:nvGrpSpPr>
        <p:grpSpPr>
          <a:xfrm>
            <a:off x="10002575" y="1496749"/>
            <a:ext cx="2951499" cy="4236154"/>
            <a:chOff x="9684743" y="1095259"/>
            <a:chExt cx="3874878" cy="4769414"/>
          </a:xfrm>
          <a:blipFill dpi="0" rotWithShape="1">
            <a:blip r:embed="rId5">
              <a:alphaModFix amt="39000"/>
            </a:blip>
            <a:srcRect/>
            <a:stretch>
              <a:fillRect/>
            </a:stretch>
          </a:blipFill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6FE8C22-6498-54BA-ED11-F3BB2D7F58B6}"/>
                </a:ext>
              </a:extLst>
            </p:cNvPr>
            <p:cNvGrpSpPr/>
            <p:nvPr/>
          </p:nvGrpSpPr>
          <p:grpSpPr>
            <a:xfrm>
              <a:off x="9684743" y="1095259"/>
              <a:ext cx="3874878" cy="3328889"/>
              <a:chOff x="9467767" y="1405229"/>
              <a:chExt cx="3874878" cy="3328889"/>
            </a:xfrm>
            <a:grp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09B8DBA3-7EA0-AE95-2D9A-77446B90AE4A}"/>
                  </a:ext>
                </a:extLst>
              </p:cNvPr>
              <p:cNvSpPr/>
              <p:nvPr/>
            </p:nvSpPr>
            <p:spPr>
              <a:xfrm rot="20333433">
                <a:off x="10503919" y="14052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3DC5D2F-E3CE-A82D-0AC6-54D57D216A19}"/>
                  </a:ext>
                </a:extLst>
              </p:cNvPr>
              <p:cNvSpPr/>
              <p:nvPr/>
            </p:nvSpPr>
            <p:spPr>
              <a:xfrm rot="20333433">
                <a:off x="9467767" y="2806885"/>
                <a:ext cx="3413826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D7F0BE49-53D6-4AD7-5BD5-83CF783942DA}"/>
                  </a:ext>
                </a:extLst>
              </p:cNvPr>
              <p:cNvSpPr/>
              <p:nvPr/>
            </p:nvSpPr>
            <p:spPr>
              <a:xfrm rot="20333433">
                <a:off x="10660793" y="37545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67B00F15-C817-6F68-B3B7-0BD7B31CDC96}"/>
                </a:ext>
              </a:extLst>
            </p:cNvPr>
            <p:cNvSpPr/>
            <p:nvPr/>
          </p:nvSpPr>
          <p:spPr>
            <a:xfrm rot="20333433">
              <a:off x="9837143" y="4885084"/>
              <a:ext cx="3413826" cy="97958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19671D1A-87B7-CCAA-B249-A1488A6BB062}"/>
              </a:ext>
            </a:extLst>
          </p:cNvPr>
          <p:cNvSpPr txBox="1"/>
          <p:nvPr/>
        </p:nvSpPr>
        <p:spPr>
          <a:xfrm>
            <a:off x="639097" y="1671484"/>
            <a:ext cx="9410131" cy="390876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800" b="1" i="0" dirty="0">
                <a:effectLst/>
                <a:latin typeface="fkGrotesk"/>
              </a:rPr>
              <a:t>Objectives</a:t>
            </a:r>
          </a:p>
          <a:p>
            <a:pPr algn="l">
              <a:buNone/>
            </a:pPr>
            <a:endParaRPr lang="en-US" sz="2800" b="0" i="0" dirty="0">
              <a:effectLst/>
              <a:latin typeface="fkGrotesk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fkGroteskNeue"/>
              </a:rPr>
              <a:t> </a:t>
            </a:r>
            <a:r>
              <a:rPr lang="en-US" sz="2400" b="1" dirty="0">
                <a:latin typeface="fkGroteskNeue"/>
              </a:rPr>
              <a:t>Entertainment</a:t>
            </a:r>
            <a:r>
              <a:rPr lang="en-US" sz="2400" dirty="0">
                <a:latin typeface="fkGroteskNeue"/>
              </a:rPr>
              <a:t> -Deepfakes can be used to create realistic special effects </a:t>
            </a:r>
          </a:p>
          <a:p>
            <a:r>
              <a:rPr lang="en-US" sz="2400" dirty="0">
                <a:latin typeface="fkGroteskNeue"/>
              </a:rPr>
              <a:t>   in movies, TV Shows, and video games..</a:t>
            </a:r>
          </a:p>
          <a:p>
            <a:endParaRPr lang="en-US" sz="2400" dirty="0">
              <a:latin typeface="fkGroteskNeue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fkGroteskNeue"/>
              </a:rPr>
              <a:t> </a:t>
            </a:r>
            <a:r>
              <a:rPr lang="en-US" sz="2400" b="1" dirty="0">
                <a:latin typeface="fkGroteskNeue"/>
              </a:rPr>
              <a:t>Education</a:t>
            </a:r>
            <a:r>
              <a:rPr lang="en-US" sz="2400" dirty="0">
                <a:latin typeface="fkGroteskNeue"/>
              </a:rPr>
              <a:t> -Deepfakes can be used to create realistic simulations for   </a:t>
            </a:r>
          </a:p>
          <a:p>
            <a:r>
              <a:rPr lang="en-US" sz="2400" dirty="0">
                <a:latin typeface="fkGroteskNeue"/>
              </a:rPr>
              <a:t>   training purposes, such as medical procedures or military exercises..</a:t>
            </a:r>
          </a:p>
          <a:p>
            <a:endParaRPr lang="en-US" sz="2400" dirty="0">
              <a:latin typeface="fkGroteskNeue"/>
            </a:endParaRPr>
          </a:p>
          <a:p>
            <a:pPr>
              <a:buFont typeface="Arial" panose="020B0604020202020204" pitchFamily="34" charset="0"/>
              <a:buChar char="•"/>
            </a:pPr>
            <a:r>
              <a:rPr lang="en-US" sz="2400" dirty="0">
                <a:latin typeface="fkGroteskNeue"/>
              </a:rPr>
              <a:t> </a:t>
            </a:r>
            <a:r>
              <a:rPr lang="en-US" sz="2400" b="1" dirty="0">
                <a:latin typeface="fkGroteskNeue"/>
              </a:rPr>
              <a:t>Social media content </a:t>
            </a:r>
            <a:r>
              <a:rPr lang="en-US" sz="2400" dirty="0">
                <a:latin typeface="fkGroteskNeue"/>
              </a:rPr>
              <a:t>-Deepfakes can be used to create humorous or  </a:t>
            </a:r>
          </a:p>
          <a:p>
            <a:r>
              <a:rPr lang="en-US" sz="2400" dirty="0">
                <a:latin typeface="fkGroteskNeue"/>
              </a:rPr>
              <a:t>   satirical videos for social media platforms.</a:t>
            </a:r>
            <a:endParaRPr lang="en-US" sz="2400" b="0" i="0" dirty="0">
              <a:effectLst/>
              <a:latin typeface="fkGroteskNeue"/>
            </a:endParaRPr>
          </a:p>
        </p:txBody>
      </p:sp>
    </p:spTree>
    <p:extLst>
      <p:ext uri="{BB962C8B-B14F-4D97-AF65-F5344CB8AC3E}">
        <p14:creationId xmlns:p14="http://schemas.microsoft.com/office/powerpoint/2010/main" val="3723140489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382704-88D1-D4F3-23EB-9E31498D02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arallelogram 3">
            <a:extLst>
              <a:ext uri="{FF2B5EF4-FFF2-40B4-BE49-F238E27FC236}">
                <a16:creationId xmlns:a16="http://schemas.microsoft.com/office/drawing/2014/main" id="{58FB9224-E849-EB97-8FA5-6CA079325A55}"/>
              </a:ext>
            </a:extLst>
          </p:cNvPr>
          <p:cNvSpPr/>
          <p:nvPr/>
        </p:nvSpPr>
        <p:spPr>
          <a:xfrm flipV="1">
            <a:off x="9830506" y="6351744"/>
            <a:ext cx="2387680" cy="51124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2053969 w 6332826"/>
              <a:gd name="connsiteY3" fmla="*/ 1462343 h 1508526"/>
              <a:gd name="connsiteX4" fmla="*/ 0 w 6332826"/>
              <a:gd name="connsiteY4" fmla="*/ 1508526 h 1508526"/>
              <a:gd name="connsiteX0" fmla="*/ 0 w 2099585"/>
              <a:gd name="connsiteY0" fmla="*/ 1523395 h 1523395"/>
              <a:gd name="connsiteX1" fmla="*/ 377132 w 2099585"/>
              <a:gd name="connsiteY1" fmla="*/ 14869 h 1523395"/>
              <a:gd name="connsiteX2" fmla="*/ 2099585 w 2099585"/>
              <a:gd name="connsiteY2" fmla="*/ 0 h 1523395"/>
              <a:gd name="connsiteX3" fmla="*/ 2053969 w 2099585"/>
              <a:gd name="connsiteY3" fmla="*/ 1477212 h 1523395"/>
              <a:gd name="connsiteX4" fmla="*/ 0 w 2099585"/>
              <a:gd name="connsiteY4" fmla="*/ 1523395 h 1523395"/>
              <a:gd name="connsiteX0" fmla="*/ 0 w 2122866"/>
              <a:gd name="connsiteY0" fmla="*/ 1523395 h 1523395"/>
              <a:gd name="connsiteX1" fmla="*/ 377132 w 2122866"/>
              <a:gd name="connsiteY1" fmla="*/ 14869 h 1523395"/>
              <a:gd name="connsiteX2" fmla="*/ 2099585 w 2122866"/>
              <a:gd name="connsiteY2" fmla="*/ 0 h 1523395"/>
              <a:gd name="connsiteX3" fmla="*/ 2122866 w 2122866"/>
              <a:gd name="connsiteY3" fmla="*/ 1523392 h 1523395"/>
              <a:gd name="connsiteX4" fmla="*/ 0 w 2122866"/>
              <a:gd name="connsiteY4" fmla="*/ 1523395 h 1523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2866" h="1523395">
                <a:moveTo>
                  <a:pt x="0" y="1523395"/>
                </a:moveTo>
                <a:lnTo>
                  <a:pt x="377132" y="14869"/>
                </a:lnTo>
                <a:lnTo>
                  <a:pt x="2099585" y="0"/>
                </a:lnTo>
                <a:lnTo>
                  <a:pt x="2122866" y="1523392"/>
                </a:lnTo>
                <a:lnTo>
                  <a:pt x="0" y="1523395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0868F4C-E8E7-B34F-8878-FF5F01906A15}"/>
              </a:ext>
            </a:extLst>
          </p:cNvPr>
          <p:cNvSpPr/>
          <p:nvPr/>
        </p:nvSpPr>
        <p:spPr>
          <a:xfrm>
            <a:off x="0" y="1015168"/>
            <a:ext cx="12693112" cy="45719"/>
          </a:xfrm>
          <a:prstGeom prst="roundRect">
            <a:avLst/>
          </a:prstGeom>
          <a:gradFill flip="none" rotWithShape="1">
            <a:gsLst>
              <a:gs pos="0">
                <a:srgbClr val="FF0000"/>
              </a:gs>
              <a:gs pos="27000">
                <a:srgbClr val="E77179"/>
              </a:gs>
              <a:gs pos="90000">
                <a:srgbClr val="0066FF"/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3">
            <a:extLst>
              <a:ext uri="{FF2B5EF4-FFF2-40B4-BE49-F238E27FC236}">
                <a16:creationId xmlns:a16="http://schemas.microsoft.com/office/drawing/2014/main" id="{CE83C0F2-8FB9-835C-7D7B-E11920DB37CA}"/>
              </a:ext>
            </a:extLst>
          </p:cNvPr>
          <p:cNvSpPr/>
          <p:nvPr/>
        </p:nvSpPr>
        <p:spPr>
          <a:xfrm flipH="1">
            <a:off x="-1" y="6351744"/>
            <a:ext cx="7280119" cy="50625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32826" h="1508526">
                <a:moveTo>
                  <a:pt x="0" y="1508526"/>
                </a:moveTo>
                <a:lnTo>
                  <a:pt x="377132" y="0"/>
                </a:lnTo>
                <a:lnTo>
                  <a:pt x="6332826" y="77491"/>
                </a:lnTo>
                <a:lnTo>
                  <a:pt x="6327654" y="1508526"/>
                </a:lnTo>
                <a:lnTo>
                  <a:pt x="0" y="1508526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6DA97F1-02C3-D309-BF5F-327D1993E30C}"/>
              </a:ext>
            </a:extLst>
          </p:cNvPr>
          <p:cNvSpPr txBox="1"/>
          <p:nvPr/>
        </p:nvSpPr>
        <p:spPr>
          <a:xfrm>
            <a:off x="186360" y="6420206"/>
            <a:ext cx="6879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rebuchet MS" panose="020B0603020202020204" pitchFamily="34" charset="0"/>
              </a:rPr>
              <a:t>Department of Computer Engineering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87B63CE-497E-7794-6765-BA547C107A32}"/>
              </a:ext>
            </a:extLst>
          </p:cNvPr>
          <p:cNvSpPr txBox="1"/>
          <p:nvPr/>
        </p:nvSpPr>
        <p:spPr>
          <a:xfrm>
            <a:off x="7653397" y="6425917"/>
            <a:ext cx="2755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https://www.nmiet.edu.in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7E5F10B2-6BCF-DCAD-D284-9905DE34833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68" t="20009" r="17839" b="24808"/>
          <a:stretch/>
        </p:blipFill>
        <p:spPr>
          <a:xfrm>
            <a:off x="7314815" y="6472880"/>
            <a:ext cx="334753" cy="316658"/>
          </a:xfrm>
          <a:prstGeom prst="rect">
            <a:avLst/>
          </a:prstGeom>
        </p:spPr>
      </p:pic>
      <p:sp>
        <p:nvSpPr>
          <p:cNvPr id="16" name="Google Shape;45;p1">
            <a:extLst>
              <a:ext uri="{FF2B5EF4-FFF2-40B4-BE49-F238E27FC236}">
                <a16:creationId xmlns:a16="http://schemas.microsoft.com/office/drawing/2014/main" id="{7B9EA182-305A-4236-3C97-BF619DA47989}"/>
              </a:ext>
            </a:extLst>
          </p:cNvPr>
          <p:cNvSpPr txBox="1"/>
          <p:nvPr/>
        </p:nvSpPr>
        <p:spPr>
          <a:xfrm>
            <a:off x="3578165" y="48630"/>
            <a:ext cx="5536782" cy="321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algn="ctr" defTabSz="914400">
              <a:buClr>
                <a:srgbClr val="000000"/>
              </a:buClr>
            </a:pPr>
            <a:r>
              <a:rPr lang="en-US" sz="2000" b="1" kern="0" dirty="0">
                <a:solidFill>
                  <a:srgbClr val="C00000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Nutan Maharashtra Vidya Prasarak Mandal's</a:t>
            </a:r>
            <a:endParaRPr sz="2000" kern="0" dirty="0">
              <a:solidFill>
                <a:srgbClr val="C00000"/>
              </a:solidFill>
              <a:latin typeface="Trebuchet MS" panose="020B0603020202020204" pitchFamily="34" charset="0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46;p1">
            <a:extLst>
              <a:ext uri="{FF2B5EF4-FFF2-40B4-BE49-F238E27FC236}">
                <a16:creationId xmlns:a16="http://schemas.microsoft.com/office/drawing/2014/main" id="{27C6818F-63CC-D5FB-C605-2C3AB1021C88}"/>
              </a:ext>
            </a:extLst>
          </p:cNvPr>
          <p:cNvSpPr txBox="1">
            <a:spLocks/>
          </p:cNvSpPr>
          <p:nvPr/>
        </p:nvSpPr>
        <p:spPr>
          <a:xfrm>
            <a:off x="1718118" y="511377"/>
            <a:ext cx="8890004" cy="2904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R="5080" algn="ctr" defTabSz="914400"/>
            <a:r>
              <a:rPr lang="en-US" sz="1800" b="1" kern="0" dirty="0">
                <a:solidFill>
                  <a:srgbClr val="002060"/>
                </a:solidFill>
                <a:latin typeface="Trebuchet MS" panose="020B0603020202020204" pitchFamily="34" charset="0"/>
              </a:rPr>
              <a:t>NUTAN MAHARASHTRA INSTITUTE OF ENGINEERING &amp; TECHNOLOGY, PUNE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9641F8F-B6AF-30A3-78EB-B75512B6028C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260"/>
          <a:stretch/>
        </p:blipFill>
        <p:spPr>
          <a:xfrm>
            <a:off x="289977" y="75380"/>
            <a:ext cx="873805" cy="855689"/>
          </a:xfrm>
          <a:prstGeom prst="rect">
            <a:avLst/>
          </a:prstGeom>
        </p:spPr>
      </p:pic>
      <p:pic>
        <p:nvPicPr>
          <p:cNvPr id="15" name="Picture 2" descr="PCET Trust Logo">
            <a:extLst>
              <a:ext uri="{FF2B5EF4-FFF2-40B4-BE49-F238E27FC236}">
                <a16:creationId xmlns:a16="http://schemas.microsoft.com/office/drawing/2014/main" id="{49166F89-B011-E53C-8006-7323F61CD34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84"/>
          <a:stretch/>
        </p:blipFill>
        <p:spPr bwMode="auto">
          <a:xfrm>
            <a:off x="11174681" y="112598"/>
            <a:ext cx="827038" cy="85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527D80CF-9326-8C54-DB0A-2CF1D8B67CC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z="1600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fld>
            <a:endParaRPr lang="en-US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4743B00-F6DD-F771-6F77-D3C9CCAB6243}"/>
              </a:ext>
            </a:extLst>
          </p:cNvPr>
          <p:cNvGrpSpPr/>
          <p:nvPr/>
        </p:nvGrpSpPr>
        <p:grpSpPr>
          <a:xfrm>
            <a:off x="10002575" y="1496749"/>
            <a:ext cx="2951499" cy="4236154"/>
            <a:chOff x="9684743" y="1095259"/>
            <a:chExt cx="3874878" cy="4769414"/>
          </a:xfrm>
          <a:blipFill dpi="0" rotWithShape="1">
            <a:blip r:embed="rId5">
              <a:alphaModFix amt="39000"/>
            </a:blip>
            <a:srcRect/>
            <a:stretch>
              <a:fillRect/>
            </a:stretch>
          </a:blipFill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7E3477C-AAC8-BC6D-1D84-D8EA944FB571}"/>
                </a:ext>
              </a:extLst>
            </p:cNvPr>
            <p:cNvGrpSpPr/>
            <p:nvPr/>
          </p:nvGrpSpPr>
          <p:grpSpPr>
            <a:xfrm>
              <a:off x="9684743" y="1095259"/>
              <a:ext cx="3874878" cy="3328889"/>
              <a:chOff x="9467767" y="1405229"/>
              <a:chExt cx="3874878" cy="3328889"/>
            </a:xfrm>
            <a:grp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C15481C-9471-8194-2265-5138606CF996}"/>
                  </a:ext>
                </a:extLst>
              </p:cNvPr>
              <p:cNvSpPr/>
              <p:nvPr/>
            </p:nvSpPr>
            <p:spPr>
              <a:xfrm rot="20333433">
                <a:off x="10503919" y="14052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C255EB3B-9E25-969B-CA73-6F3012A8F40E}"/>
                  </a:ext>
                </a:extLst>
              </p:cNvPr>
              <p:cNvSpPr/>
              <p:nvPr/>
            </p:nvSpPr>
            <p:spPr>
              <a:xfrm rot="20333433">
                <a:off x="9467767" y="2806885"/>
                <a:ext cx="3413826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6B2C4593-A6D1-729A-E5B6-E941CF3B44D4}"/>
                  </a:ext>
                </a:extLst>
              </p:cNvPr>
              <p:cNvSpPr/>
              <p:nvPr/>
            </p:nvSpPr>
            <p:spPr>
              <a:xfrm rot="20333433">
                <a:off x="10660793" y="37545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73A30F8-9A03-3459-4954-A4EAA20E403D}"/>
                </a:ext>
              </a:extLst>
            </p:cNvPr>
            <p:cNvSpPr/>
            <p:nvPr/>
          </p:nvSpPr>
          <p:spPr>
            <a:xfrm rot="20333433">
              <a:off x="9837143" y="4885084"/>
              <a:ext cx="3413826" cy="97958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7C39081B-3B5A-5754-26CE-2A2D223F5CC0}"/>
              </a:ext>
            </a:extLst>
          </p:cNvPr>
          <p:cNvSpPr txBox="1"/>
          <p:nvPr/>
        </p:nvSpPr>
        <p:spPr>
          <a:xfrm>
            <a:off x="392892" y="1048885"/>
            <a:ext cx="91563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800" b="1" i="0" dirty="0">
                <a:effectLst/>
                <a:latin typeface="fkGrotesk"/>
              </a:rPr>
              <a:t>Architecture / Flow Diagram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E8020A3-B788-A2D1-0C97-24AE6F8CD5AD}"/>
              </a:ext>
            </a:extLst>
          </p:cNvPr>
          <p:cNvSpPr txBox="1"/>
          <p:nvPr/>
        </p:nvSpPr>
        <p:spPr>
          <a:xfrm>
            <a:off x="392892" y="5477456"/>
            <a:ext cx="8957187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IN" b="1" dirty="0"/>
              <a:t>CNNs (Convolutional Neural Networks): </a:t>
            </a:r>
            <a:r>
              <a:rPr lang="en-US" dirty="0"/>
              <a:t>process images or grid-like data </a:t>
            </a:r>
          </a:p>
          <a:p>
            <a:r>
              <a:rPr lang="en-IN" b="1" dirty="0"/>
              <a:t>RNNs (Recurrent Neural Networks): </a:t>
            </a:r>
            <a:r>
              <a:rPr lang="en-IN" dirty="0"/>
              <a:t>process audio or video frames</a:t>
            </a:r>
          </a:p>
        </p:txBody>
      </p:sp>
      <p:pic>
        <p:nvPicPr>
          <p:cNvPr id="1028" name="Picture 4">
            <a:extLst>
              <a:ext uri="{FF2B5EF4-FFF2-40B4-BE49-F238E27FC236}">
                <a16:creationId xmlns:a16="http://schemas.microsoft.com/office/drawing/2014/main" id="{C93F6E0F-741F-92DD-38C5-1278E23F725D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5339" b="20768"/>
          <a:stretch>
            <a:fillRect/>
          </a:stretch>
        </p:blipFill>
        <p:spPr bwMode="auto">
          <a:xfrm>
            <a:off x="321122" y="1651610"/>
            <a:ext cx="10287000" cy="369602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77840770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9680AAC-96F0-3B1E-6A51-4E1F1385F07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arallelogram 3">
            <a:extLst>
              <a:ext uri="{FF2B5EF4-FFF2-40B4-BE49-F238E27FC236}">
                <a16:creationId xmlns:a16="http://schemas.microsoft.com/office/drawing/2014/main" id="{16E71E9F-5FD2-EC3E-361F-8A5FE48D9609}"/>
              </a:ext>
            </a:extLst>
          </p:cNvPr>
          <p:cNvSpPr/>
          <p:nvPr/>
        </p:nvSpPr>
        <p:spPr>
          <a:xfrm flipV="1">
            <a:off x="9830506" y="6351744"/>
            <a:ext cx="2387680" cy="51124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2053969 w 6332826"/>
              <a:gd name="connsiteY3" fmla="*/ 1462343 h 1508526"/>
              <a:gd name="connsiteX4" fmla="*/ 0 w 6332826"/>
              <a:gd name="connsiteY4" fmla="*/ 1508526 h 1508526"/>
              <a:gd name="connsiteX0" fmla="*/ 0 w 2099585"/>
              <a:gd name="connsiteY0" fmla="*/ 1523395 h 1523395"/>
              <a:gd name="connsiteX1" fmla="*/ 377132 w 2099585"/>
              <a:gd name="connsiteY1" fmla="*/ 14869 h 1523395"/>
              <a:gd name="connsiteX2" fmla="*/ 2099585 w 2099585"/>
              <a:gd name="connsiteY2" fmla="*/ 0 h 1523395"/>
              <a:gd name="connsiteX3" fmla="*/ 2053969 w 2099585"/>
              <a:gd name="connsiteY3" fmla="*/ 1477212 h 1523395"/>
              <a:gd name="connsiteX4" fmla="*/ 0 w 2099585"/>
              <a:gd name="connsiteY4" fmla="*/ 1523395 h 1523395"/>
              <a:gd name="connsiteX0" fmla="*/ 0 w 2122866"/>
              <a:gd name="connsiteY0" fmla="*/ 1523395 h 1523395"/>
              <a:gd name="connsiteX1" fmla="*/ 377132 w 2122866"/>
              <a:gd name="connsiteY1" fmla="*/ 14869 h 1523395"/>
              <a:gd name="connsiteX2" fmla="*/ 2099585 w 2122866"/>
              <a:gd name="connsiteY2" fmla="*/ 0 h 1523395"/>
              <a:gd name="connsiteX3" fmla="*/ 2122866 w 2122866"/>
              <a:gd name="connsiteY3" fmla="*/ 1523392 h 1523395"/>
              <a:gd name="connsiteX4" fmla="*/ 0 w 2122866"/>
              <a:gd name="connsiteY4" fmla="*/ 1523395 h 1523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2866" h="1523395">
                <a:moveTo>
                  <a:pt x="0" y="1523395"/>
                </a:moveTo>
                <a:lnTo>
                  <a:pt x="377132" y="14869"/>
                </a:lnTo>
                <a:lnTo>
                  <a:pt x="2099585" y="0"/>
                </a:lnTo>
                <a:lnTo>
                  <a:pt x="2122866" y="1523392"/>
                </a:lnTo>
                <a:lnTo>
                  <a:pt x="0" y="1523395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51A06A3E-0CDE-CC6C-27F1-AD095665D6B6}"/>
              </a:ext>
            </a:extLst>
          </p:cNvPr>
          <p:cNvSpPr/>
          <p:nvPr/>
        </p:nvSpPr>
        <p:spPr>
          <a:xfrm>
            <a:off x="0" y="1015168"/>
            <a:ext cx="12693112" cy="45719"/>
          </a:xfrm>
          <a:prstGeom prst="roundRect">
            <a:avLst/>
          </a:prstGeom>
          <a:gradFill flip="none" rotWithShape="1">
            <a:gsLst>
              <a:gs pos="0">
                <a:srgbClr val="FF0000"/>
              </a:gs>
              <a:gs pos="27000">
                <a:srgbClr val="E77179"/>
              </a:gs>
              <a:gs pos="90000">
                <a:srgbClr val="0066FF"/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3">
            <a:extLst>
              <a:ext uri="{FF2B5EF4-FFF2-40B4-BE49-F238E27FC236}">
                <a16:creationId xmlns:a16="http://schemas.microsoft.com/office/drawing/2014/main" id="{8AFFA4B7-6F1B-0392-9383-8D1231B3146A}"/>
              </a:ext>
            </a:extLst>
          </p:cNvPr>
          <p:cNvSpPr/>
          <p:nvPr/>
        </p:nvSpPr>
        <p:spPr>
          <a:xfrm flipH="1">
            <a:off x="-1" y="6351744"/>
            <a:ext cx="7280119" cy="50625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32826" h="1508526">
                <a:moveTo>
                  <a:pt x="0" y="1508526"/>
                </a:moveTo>
                <a:lnTo>
                  <a:pt x="377132" y="0"/>
                </a:lnTo>
                <a:lnTo>
                  <a:pt x="6332826" y="77491"/>
                </a:lnTo>
                <a:lnTo>
                  <a:pt x="6327654" y="1508526"/>
                </a:lnTo>
                <a:lnTo>
                  <a:pt x="0" y="1508526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6DB721C-8DE1-4615-255C-C10858E5587F}"/>
              </a:ext>
            </a:extLst>
          </p:cNvPr>
          <p:cNvSpPr txBox="1"/>
          <p:nvPr/>
        </p:nvSpPr>
        <p:spPr>
          <a:xfrm>
            <a:off x="186360" y="6420206"/>
            <a:ext cx="6879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rebuchet MS" panose="020B0603020202020204" pitchFamily="34" charset="0"/>
              </a:rPr>
              <a:t>Department of Computer Engineering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09E05A77-CE82-CD41-3559-F8A797CDAE22}"/>
              </a:ext>
            </a:extLst>
          </p:cNvPr>
          <p:cNvSpPr txBox="1"/>
          <p:nvPr/>
        </p:nvSpPr>
        <p:spPr>
          <a:xfrm>
            <a:off x="7653397" y="6425917"/>
            <a:ext cx="2755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https://www.nmiet.edu.in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F561FE22-F2AC-2C21-801B-74B5B0BEA24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68" t="20009" r="17839" b="24808"/>
          <a:stretch/>
        </p:blipFill>
        <p:spPr>
          <a:xfrm>
            <a:off x="7314815" y="6472880"/>
            <a:ext cx="334753" cy="316658"/>
          </a:xfrm>
          <a:prstGeom prst="rect">
            <a:avLst/>
          </a:prstGeom>
        </p:spPr>
      </p:pic>
      <p:sp>
        <p:nvSpPr>
          <p:cNvPr id="16" name="Google Shape;45;p1">
            <a:extLst>
              <a:ext uri="{FF2B5EF4-FFF2-40B4-BE49-F238E27FC236}">
                <a16:creationId xmlns:a16="http://schemas.microsoft.com/office/drawing/2014/main" id="{ED60070E-3439-A6D1-7830-959BAA44E7A1}"/>
              </a:ext>
            </a:extLst>
          </p:cNvPr>
          <p:cNvSpPr txBox="1"/>
          <p:nvPr/>
        </p:nvSpPr>
        <p:spPr>
          <a:xfrm>
            <a:off x="3578165" y="48630"/>
            <a:ext cx="5536782" cy="321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algn="ctr" defTabSz="914400">
              <a:buClr>
                <a:srgbClr val="000000"/>
              </a:buClr>
            </a:pPr>
            <a:r>
              <a:rPr lang="en-US" sz="2000" b="1" kern="0" dirty="0">
                <a:solidFill>
                  <a:srgbClr val="C00000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Nutan Maharashtra Vidya Prasarak Mandal's</a:t>
            </a:r>
            <a:endParaRPr sz="2000" kern="0" dirty="0">
              <a:solidFill>
                <a:srgbClr val="C00000"/>
              </a:solidFill>
              <a:latin typeface="Trebuchet MS" panose="020B0603020202020204" pitchFamily="34" charset="0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46;p1">
            <a:extLst>
              <a:ext uri="{FF2B5EF4-FFF2-40B4-BE49-F238E27FC236}">
                <a16:creationId xmlns:a16="http://schemas.microsoft.com/office/drawing/2014/main" id="{EAD9A45D-F7D8-5B88-8D86-B634672C3FBD}"/>
              </a:ext>
            </a:extLst>
          </p:cNvPr>
          <p:cNvSpPr txBox="1">
            <a:spLocks/>
          </p:cNvSpPr>
          <p:nvPr/>
        </p:nvSpPr>
        <p:spPr>
          <a:xfrm>
            <a:off x="1718118" y="511377"/>
            <a:ext cx="8890004" cy="2904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R="5080" algn="ctr" defTabSz="914400"/>
            <a:r>
              <a:rPr lang="en-US" sz="1800" b="1" kern="0" dirty="0">
                <a:solidFill>
                  <a:srgbClr val="002060"/>
                </a:solidFill>
                <a:latin typeface="Trebuchet MS" panose="020B0603020202020204" pitchFamily="34" charset="0"/>
              </a:rPr>
              <a:t>NUTAN MAHARASHTRA INSTITUTE OF ENGINEERING &amp; TECHNOLOGY, PUNE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5529F531-9C45-59C5-B579-E74B9A3795BA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260"/>
          <a:stretch/>
        </p:blipFill>
        <p:spPr>
          <a:xfrm>
            <a:off x="289977" y="75380"/>
            <a:ext cx="873805" cy="855689"/>
          </a:xfrm>
          <a:prstGeom prst="rect">
            <a:avLst/>
          </a:prstGeom>
        </p:spPr>
      </p:pic>
      <p:pic>
        <p:nvPicPr>
          <p:cNvPr id="15" name="Picture 2" descr="PCET Trust Logo">
            <a:extLst>
              <a:ext uri="{FF2B5EF4-FFF2-40B4-BE49-F238E27FC236}">
                <a16:creationId xmlns:a16="http://schemas.microsoft.com/office/drawing/2014/main" id="{7A0C6ACA-0165-2DB7-8F76-7B85A6EC2CB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84"/>
          <a:stretch/>
        </p:blipFill>
        <p:spPr bwMode="auto">
          <a:xfrm>
            <a:off x="11174681" y="112598"/>
            <a:ext cx="827038" cy="85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5C060B5-6377-821E-EA51-4DD2A63F2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z="1600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9</a:t>
            </a:fld>
            <a:endParaRPr lang="en-US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3B454AFC-33EC-EFED-EA20-F463B64F1795}"/>
              </a:ext>
            </a:extLst>
          </p:cNvPr>
          <p:cNvGrpSpPr/>
          <p:nvPr/>
        </p:nvGrpSpPr>
        <p:grpSpPr>
          <a:xfrm>
            <a:off x="9973078" y="1496749"/>
            <a:ext cx="2951499" cy="4236154"/>
            <a:chOff x="9684743" y="1095259"/>
            <a:chExt cx="3874878" cy="4769414"/>
          </a:xfrm>
          <a:blipFill dpi="0" rotWithShape="1">
            <a:blip r:embed="rId5">
              <a:alphaModFix amt="39000"/>
            </a:blip>
            <a:srcRect/>
            <a:stretch>
              <a:fillRect/>
            </a:stretch>
          </a:blipFill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BB555AF-094E-5268-3527-FCB5CCF8CF51}"/>
                </a:ext>
              </a:extLst>
            </p:cNvPr>
            <p:cNvGrpSpPr/>
            <p:nvPr/>
          </p:nvGrpSpPr>
          <p:grpSpPr>
            <a:xfrm>
              <a:off x="9684743" y="1095259"/>
              <a:ext cx="3874878" cy="3328889"/>
              <a:chOff x="9467767" y="1405229"/>
              <a:chExt cx="3874878" cy="3328889"/>
            </a:xfrm>
            <a:grp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8968068F-FB0B-9854-D993-8FAB011C73F0}"/>
                  </a:ext>
                </a:extLst>
              </p:cNvPr>
              <p:cNvSpPr/>
              <p:nvPr/>
            </p:nvSpPr>
            <p:spPr>
              <a:xfrm rot="20333433">
                <a:off x="10503919" y="14052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48B24FD1-437D-5017-08BC-EFDA596D4D9D}"/>
                  </a:ext>
                </a:extLst>
              </p:cNvPr>
              <p:cNvSpPr/>
              <p:nvPr/>
            </p:nvSpPr>
            <p:spPr>
              <a:xfrm rot="20333433">
                <a:off x="9467767" y="2806885"/>
                <a:ext cx="3413826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8E08A309-4651-A644-ABDA-5EBC86A7813C}"/>
                  </a:ext>
                </a:extLst>
              </p:cNvPr>
              <p:cNvSpPr/>
              <p:nvPr/>
            </p:nvSpPr>
            <p:spPr>
              <a:xfrm rot="20333433">
                <a:off x="10660793" y="37545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4089609B-490B-4E1D-912B-2D3D8CFA81DD}"/>
                </a:ext>
              </a:extLst>
            </p:cNvPr>
            <p:cNvSpPr/>
            <p:nvPr/>
          </p:nvSpPr>
          <p:spPr>
            <a:xfrm rot="20333433">
              <a:off x="9837143" y="4885084"/>
              <a:ext cx="3413826" cy="97958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A78210E-3499-BDD5-838A-7F20A15C54F8}"/>
              </a:ext>
            </a:extLst>
          </p:cNvPr>
          <p:cNvSpPr txBox="1"/>
          <p:nvPr/>
        </p:nvSpPr>
        <p:spPr>
          <a:xfrm>
            <a:off x="674182" y="1613502"/>
            <a:ext cx="9156324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800" b="1" i="0" dirty="0">
                <a:effectLst/>
                <a:latin typeface="fkGrotesk"/>
              </a:rPr>
              <a:t>Methodology Used</a:t>
            </a: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800" b="0" i="0" dirty="0">
                <a:effectLst/>
                <a:latin typeface="fkGroteskNeue"/>
              </a:rPr>
              <a:t> Collected and reviewed recent research papers.</a:t>
            </a:r>
          </a:p>
          <a:p>
            <a:pPr algn="l"/>
            <a:endParaRPr lang="en-US" sz="2800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800" b="0" i="0" dirty="0">
                <a:effectLst/>
                <a:latin typeface="fkGroteskNeue"/>
              </a:rPr>
              <a:t> Compared different deepfake tools</a:t>
            </a:r>
          </a:p>
          <a:p>
            <a:pPr algn="l"/>
            <a:r>
              <a:rPr lang="en-US" sz="2800" dirty="0">
                <a:latin typeface="fkGroteskNeue"/>
              </a:rPr>
              <a:t>  </a:t>
            </a:r>
            <a:r>
              <a:rPr lang="en-US" sz="2800" b="0" i="0" dirty="0">
                <a:effectLst/>
                <a:latin typeface="fkGroteskNeue"/>
              </a:rPr>
              <a:t> and detection methods.</a:t>
            </a:r>
          </a:p>
          <a:p>
            <a:pPr algn="l"/>
            <a:endParaRPr lang="en-US" sz="2800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800" b="0" i="0" dirty="0">
                <a:effectLst/>
                <a:latin typeface="fkGroteskNeue"/>
              </a:rPr>
              <a:t> Tested detection models on public</a:t>
            </a:r>
          </a:p>
          <a:p>
            <a:pPr algn="l"/>
            <a:r>
              <a:rPr lang="en-US" sz="2800" dirty="0">
                <a:latin typeface="fkGroteskNeue"/>
              </a:rPr>
              <a:t> </a:t>
            </a:r>
            <a:r>
              <a:rPr lang="en-US" sz="2800" b="0" i="0" dirty="0">
                <a:effectLst/>
                <a:latin typeface="fkGroteskNeue"/>
              </a:rPr>
              <a:t> datasets like DFDC and Celeb-DF.</a:t>
            </a: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3CC7DE51-1A8E-AB5F-73C2-01E04DC6422A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74617" y="2497654"/>
            <a:ext cx="5343201" cy="367430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79126033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D0FE5C-C2D4-1BAB-5F2B-C6324760253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arallelogram 3">
            <a:extLst>
              <a:ext uri="{FF2B5EF4-FFF2-40B4-BE49-F238E27FC236}">
                <a16:creationId xmlns:a16="http://schemas.microsoft.com/office/drawing/2014/main" id="{B9E31DAE-6E1D-1BF5-59CC-7435E507026C}"/>
              </a:ext>
            </a:extLst>
          </p:cNvPr>
          <p:cNvSpPr/>
          <p:nvPr/>
        </p:nvSpPr>
        <p:spPr>
          <a:xfrm flipV="1">
            <a:off x="9830506" y="6351744"/>
            <a:ext cx="2387680" cy="51124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2053969 w 6332826"/>
              <a:gd name="connsiteY3" fmla="*/ 1462343 h 1508526"/>
              <a:gd name="connsiteX4" fmla="*/ 0 w 6332826"/>
              <a:gd name="connsiteY4" fmla="*/ 1508526 h 1508526"/>
              <a:gd name="connsiteX0" fmla="*/ 0 w 2099585"/>
              <a:gd name="connsiteY0" fmla="*/ 1523395 h 1523395"/>
              <a:gd name="connsiteX1" fmla="*/ 377132 w 2099585"/>
              <a:gd name="connsiteY1" fmla="*/ 14869 h 1523395"/>
              <a:gd name="connsiteX2" fmla="*/ 2099585 w 2099585"/>
              <a:gd name="connsiteY2" fmla="*/ 0 h 1523395"/>
              <a:gd name="connsiteX3" fmla="*/ 2053969 w 2099585"/>
              <a:gd name="connsiteY3" fmla="*/ 1477212 h 1523395"/>
              <a:gd name="connsiteX4" fmla="*/ 0 w 2099585"/>
              <a:gd name="connsiteY4" fmla="*/ 1523395 h 1523395"/>
              <a:gd name="connsiteX0" fmla="*/ 0 w 2122866"/>
              <a:gd name="connsiteY0" fmla="*/ 1523395 h 1523395"/>
              <a:gd name="connsiteX1" fmla="*/ 377132 w 2122866"/>
              <a:gd name="connsiteY1" fmla="*/ 14869 h 1523395"/>
              <a:gd name="connsiteX2" fmla="*/ 2099585 w 2122866"/>
              <a:gd name="connsiteY2" fmla="*/ 0 h 1523395"/>
              <a:gd name="connsiteX3" fmla="*/ 2122866 w 2122866"/>
              <a:gd name="connsiteY3" fmla="*/ 1523392 h 1523395"/>
              <a:gd name="connsiteX4" fmla="*/ 0 w 2122866"/>
              <a:gd name="connsiteY4" fmla="*/ 1523395 h 1523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2866" h="1523395">
                <a:moveTo>
                  <a:pt x="0" y="1523395"/>
                </a:moveTo>
                <a:lnTo>
                  <a:pt x="377132" y="14869"/>
                </a:lnTo>
                <a:lnTo>
                  <a:pt x="2099585" y="0"/>
                </a:lnTo>
                <a:lnTo>
                  <a:pt x="2122866" y="1523392"/>
                </a:lnTo>
                <a:lnTo>
                  <a:pt x="0" y="1523395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874383E4-73E4-122C-493A-D35B9A822426}"/>
              </a:ext>
            </a:extLst>
          </p:cNvPr>
          <p:cNvSpPr/>
          <p:nvPr/>
        </p:nvSpPr>
        <p:spPr>
          <a:xfrm>
            <a:off x="0" y="1015168"/>
            <a:ext cx="12693112" cy="45719"/>
          </a:xfrm>
          <a:prstGeom prst="roundRect">
            <a:avLst/>
          </a:prstGeom>
          <a:gradFill flip="none" rotWithShape="1">
            <a:gsLst>
              <a:gs pos="0">
                <a:srgbClr val="FF0000"/>
              </a:gs>
              <a:gs pos="27000">
                <a:srgbClr val="E77179"/>
              </a:gs>
              <a:gs pos="90000">
                <a:srgbClr val="0066FF"/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3">
            <a:extLst>
              <a:ext uri="{FF2B5EF4-FFF2-40B4-BE49-F238E27FC236}">
                <a16:creationId xmlns:a16="http://schemas.microsoft.com/office/drawing/2014/main" id="{FA17EF9F-EEE6-66D5-53A9-5692D334FAC8}"/>
              </a:ext>
            </a:extLst>
          </p:cNvPr>
          <p:cNvSpPr/>
          <p:nvPr/>
        </p:nvSpPr>
        <p:spPr>
          <a:xfrm flipH="1">
            <a:off x="-1" y="6351744"/>
            <a:ext cx="7280119" cy="50625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32826" h="1508526">
                <a:moveTo>
                  <a:pt x="0" y="1508526"/>
                </a:moveTo>
                <a:lnTo>
                  <a:pt x="377132" y="0"/>
                </a:lnTo>
                <a:lnTo>
                  <a:pt x="6332826" y="77491"/>
                </a:lnTo>
                <a:lnTo>
                  <a:pt x="6327654" y="1508526"/>
                </a:lnTo>
                <a:lnTo>
                  <a:pt x="0" y="1508526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F13FC26-0723-308C-EECE-EBEDF882A448}"/>
              </a:ext>
            </a:extLst>
          </p:cNvPr>
          <p:cNvSpPr txBox="1"/>
          <p:nvPr/>
        </p:nvSpPr>
        <p:spPr>
          <a:xfrm>
            <a:off x="186360" y="6420206"/>
            <a:ext cx="6879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rebuchet MS" panose="020B0603020202020204" pitchFamily="34" charset="0"/>
              </a:rPr>
              <a:t>Department of Computer Engineering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41EC8C1C-CE19-9D3E-AB2B-757768E19045}"/>
              </a:ext>
            </a:extLst>
          </p:cNvPr>
          <p:cNvSpPr txBox="1"/>
          <p:nvPr/>
        </p:nvSpPr>
        <p:spPr>
          <a:xfrm>
            <a:off x="7653397" y="6425917"/>
            <a:ext cx="2755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https://www.nmiet.edu.in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B22E404C-27BF-CE4D-CAD4-E183DF218E10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68" t="20009" r="17839" b="24808"/>
          <a:stretch/>
        </p:blipFill>
        <p:spPr>
          <a:xfrm>
            <a:off x="7314815" y="6472880"/>
            <a:ext cx="334753" cy="316658"/>
          </a:xfrm>
          <a:prstGeom prst="rect">
            <a:avLst/>
          </a:prstGeom>
        </p:spPr>
      </p:pic>
      <p:sp>
        <p:nvSpPr>
          <p:cNvPr id="16" name="Google Shape;45;p1">
            <a:extLst>
              <a:ext uri="{FF2B5EF4-FFF2-40B4-BE49-F238E27FC236}">
                <a16:creationId xmlns:a16="http://schemas.microsoft.com/office/drawing/2014/main" id="{56ACD50C-B8E5-69B1-0F67-B0B2B7714D96}"/>
              </a:ext>
            </a:extLst>
          </p:cNvPr>
          <p:cNvSpPr txBox="1"/>
          <p:nvPr/>
        </p:nvSpPr>
        <p:spPr>
          <a:xfrm>
            <a:off x="3578165" y="48630"/>
            <a:ext cx="5536782" cy="321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algn="ctr" defTabSz="914400">
              <a:buClr>
                <a:srgbClr val="000000"/>
              </a:buClr>
            </a:pPr>
            <a:r>
              <a:rPr lang="en-US" sz="2000" b="1" kern="0" dirty="0">
                <a:solidFill>
                  <a:srgbClr val="C00000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Nutan Maharashtra Vidya Prasarak Mandal's</a:t>
            </a:r>
            <a:endParaRPr sz="2000" kern="0" dirty="0">
              <a:solidFill>
                <a:srgbClr val="C00000"/>
              </a:solidFill>
              <a:latin typeface="Trebuchet MS" panose="020B0603020202020204" pitchFamily="34" charset="0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46;p1">
            <a:extLst>
              <a:ext uri="{FF2B5EF4-FFF2-40B4-BE49-F238E27FC236}">
                <a16:creationId xmlns:a16="http://schemas.microsoft.com/office/drawing/2014/main" id="{8C3479B4-8FB4-E031-35AE-6AD5E647F8C4}"/>
              </a:ext>
            </a:extLst>
          </p:cNvPr>
          <p:cNvSpPr txBox="1">
            <a:spLocks/>
          </p:cNvSpPr>
          <p:nvPr/>
        </p:nvSpPr>
        <p:spPr>
          <a:xfrm>
            <a:off x="1718118" y="511377"/>
            <a:ext cx="8890004" cy="2904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R="5080" algn="ctr" defTabSz="914400"/>
            <a:r>
              <a:rPr lang="en-US" sz="1800" b="1" kern="0" dirty="0">
                <a:solidFill>
                  <a:srgbClr val="002060"/>
                </a:solidFill>
                <a:latin typeface="Trebuchet MS" panose="020B0603020202020204" pitchFamily="34" charset="0"/>
              </a:rPr>
              <a:t>NUTAN MAHARASHTRA INSTITUTE OF ENGINEERING &amp; TECHNOLOGY, PUNE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D76B35F1-CA92-A17A-AEE8-4A3F5CF0CA51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260"/>
          <a:stretch/>
        </p:blipFill>
        <p:spPr>
          <a:xfrm>
            <a:off x="289977" y="75380"/>
            <a:ext cx="873805" cy="855689"/>
          </a:xfrm>
          <a:prstGeom prst="rect">
            <a:avLst/>
          </a:prstGeom>
        </p:spPr>
      </p:pic>
      <p:pic>
        <p:nvPicPr>
          <p:cNvPr id="15" name="Picture 2" descr="PCET Trust Logo">
            <a:extLst>
              <a:ext uri="{FF2B5EF4-FFF2-40B4-BE49-F238E27FC236}">
                <a16:creationId xmlns:a16="http://schemas.microsoft.com/office/drawing/2014/main" id="{DBA97D0C-8F37-C161-48FD-08983E0C043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84"/>
          <a:stretch/>
        </p:blipFill>
        <p:spPr bwMode="auto">
          <a:xfrm>
            <a:off x="11174681" y="112598"/>
            <a:ext cx="827038" cy="85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063AE58-33DA-9434-9781-C1B61392E1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z="1600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10</a:t>
            </a:fld>
            <a:endParaRPr lang="en-US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F5D2EF1-175E-903D-E6E9-A8664AF695DD}"/>
              </a:ext>
            </a:extLst>
          </p:cNvPr>
          <p:cNvGrpSpPr/>
          <p:nvPr/>
        </p:nvGrpSpPr>
        <p:grpSpPr>
          <a:xfrm>
            <a:off x="10002575" y="1496749"/>
            <a:ext cx="2951499" cy="4236154"/>
            <a:chOff x="9684743" y="1095259"/>
            <a:chExt cx="3874878" cy="4769414"/>
          </a:xfrm>
          <a:blipFill dpi="0" rotWithShape="1">
            <a:blip r:embed="rId5">
              <a:alphaModFix amt="39000"/>
            </a:blip>
            <a:srcRect/>
            <a:stretch>
              <a:fillRect/>
            </a:stretch>
          </a:blipFill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00C235A0-56AE-630D-ADE3-F7201C245DB8}"/>
                </a:ext>
              </a:extLst>
            </p:cNvPr>
            <p:cNvGrpSpPr/>
            <p:nvPr/>
          </p:nvGrpSpPr>
          <p:grpSpPr>
            <a:xfrm>
              <a:off x="9684743" y="1095259"/>
              <a:ext cx="3874878" cy="3328889"/>
              <a:chOff x="9467767" y="1405229"/>
              <a:chExt cx="3874878" cy="3328889"/>
            </a:xfrm>
            <a:grp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6BDCFFA6-EE38-6A98-4E66-7AE98A086DB5}"/>
                  </a:ext>
                </a:extLst>
              </p:cNvPr>
              <p:cNvSpPr/>
              <p:nvPr/>
            </p:nvSpPr>
            <p:spPr>
              <a:xfrm rot="20333433">
                <a:off x="10503919" y="14052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4BF72AEB-8FD5-F1CF-82EC-9AC7E6A747FE}"/>
                  </a:ext>
                </a:extLst>
              </p:cNvPr>
              <p:cNvSpPr/>
              <p:nvPr/>
            </p:nvSpPr>
            <p:spPr>
              <a:xfrm rot="20333433">
                <a:off x="9467767" y="2806885"/>
                <a:ext cx="3413826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9E36365B-791E-3DC6-5886-EB0115C58501}"/>
                  </a:ext>
                </a:extLst>
              </p:cNvPr>
              <p:cNvSpPr/>
              <p:nvPr/>
            </p:nvSpPr>
            <p:spPr>
              <a:xfrm rot="20333433">
                <a:off x="10660793" y="37545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1CDB002E-F91B-BA34-F1E6-F183C38FA43C}"/>
                </a:ext>
              </a:extLst>
            </p:cNvPr>
            <p:cNvSpPr/>
            <p:nvPr/>
          </p:nvSpPr>
          <p:spPr>
            <a:xfrm rot="20333433">
              <a:off x="9837143" y="4885084"/>
              <a:ext cx="3413826" cy="97958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2B993276-2D8E-18A3-F9D7-8335100E8EA3}"/>
              </a:ext>
            </a:extLst>
          </p:cNvPr>
          <p:cNvSpPr txBox="1"/>
          <p:nvPr/>
        </p:nvSpPr>
        <p:spPr>
          <a:xfrm>
            <a:off x="674182" y="1408560"/>
            <a:ext cx="9156324" cy="5232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800" b="1" i="0" dirty="0">
                <a:effectLst/>
                <a:latin typeface="fkGrotesk"/>
              </a:rPr>
              <a:t>Expected Outcome</a:t>
            </a: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B31E9A9-E426-BC30-F79A-F38D8A782F3E}"/>
              </a:ext>
            </a:extLst>
          </p:cNvPr>
          <p:cNvSpPr txBox="1"/>
          <p:nvPr/>
        </p:nvSpPr>
        <p:spPr>
          <a:xfrm>
            <a:off x="373626" y="2133600"/>
            <a:ext cx="9456880" cy="36933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b="1" dirty="0"/>
              <a:t>Awareness</a:t>
            </a:r>
            <a:r>
              <a:rPr lang="en-US" sz="2400" dirty="0"/>
              <a:t> – Participants will gain a clear understanding of how deepfake 	            technology works, its applications, and associated risks.</a:t>
            </a:r>
            <a:br>
              <a:rPr lang="en-US" dirty="0"/>
            </a:br>
            <a:endParaRPr lang="en-US" dirty="0"/>
          </a:p>
          <a:p>
            <a:r>
              <a:rPr lang="en-US" sz="2400" b="1" dirty="0"/>
              <a:t>Identification Skills</a:t>
            </a:r>
            <a:r>
              <a:rPr lang="en-US" sz="2400" dirty="0"/>
              <a:t> – Ability to recognize signs of manipulated media such 		            as poor lip-syncing unusual facial expressions, and 			            inconsistent audio/video quality.</a:t>
            </a:r>
          </a:p>
          <a:p>
            <a:endParaRPr lang="en-US" sz="2400" dirty="0"/>
          </a:p>
          <a:p>
            <a:r>
              <a:rPr lang="en-US" sz="2400" b="1" dirty="0"/>
              <a:t>Technical Understanding</a:t>
            </a:r>
            <a:r>
              <a:rPr lang="en-US" sz="2400" dirty="0"/>
              <a:t> – Knowledge of detection methods using AI/ML 				models (CNNs, RNNs) and preprocessing techniques.</a:t>
            </a:r>
          </a:p>
          <a:p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89711400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B55085-7742-93CA-728E-BA46443A07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arallelogram 3">
            <a:extLst>
              <a:ext uri="{FF2B5EF4-FFF2-40B4-BE49-F238E27FC236}">
                <a16:creationId xmlns:a16="http://schemas.microsoft.com/office/drawing/2014/main" id="{F09A213B-E709-E1A3-77FD-C8BC8BB9D1AD}"/>
              </a:ext>
            </a:extLst>
          </p:cNvPr>
          <p:cNvSpPr/>
          <p:nvPr/>
        </p:nvSpPr>
        <p:spPr>
          <a:xfrm flipV="1">
            <a:off x="9830506" y="6351744"/>
            <a:ext cx="2387680" cy="51124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2053969 w 6332826"/>
              <a:gd name="connsiteY3" fmla="*/ 1462343 h 1508526"/>
              <a:gd name="connsiteX4" fmla="*/ 0 w 6332826"/>
              <a:gd name="connsiteY4" fmla="*/ 1508526 h 1508526"/>
              <a:gd name="connsiteX0" fmla="*/ 0 w 2099585"/>
              <a:gd name="connsiteY0" fmla="*/ 1523395 h 1523395"/>
              <a:gd name="connsiteX1" fmla="*/ 377132 w 2099585"/>
              <a:gd name="connsiteY1" fmla="*/ 14869 h 1523395"/>
              <a:gd name="connsiteX2" fmla="*/ 2099585 w 2099585"/>
              <a:gd name="connsiteY2" fmla="*/ 0 h 1523395"/>
              <a:gd name="connsiteX3" fmla="*/ 2053969 w 2099585"/>
              <a:gd name="connsiteY3" fmla="*/ 1477212 h 1523395"/>
              <a:gd name="connsiteX4" fmla="*/ 0 w 2099585"/>
              <a:gd name="connsiteY4" fmla="*/ 1523395 h 1523395"/>
              <a:gd name="connsiteX0" fmla="*/ 0 w 2122866"/>
              <a:gd name="connsiteY0" fmla="*/ 1523395 h 1523395"/>
              <a:gd name="connsiteX1" fmla="*/ 377132 w 2122866"/>
              <a:gd name="connsiteY1" fmla="*/ 14869 h 1523395"/>
              <a:gd name="connsiteX2" fmla="*/ 2099585 w 2122866"/>
              <a:gd name="connsiteY2" fmla="*/ 0 h 1523395"/>
              <a:gd name="connsiteX3" fmla="*/ 2122866 w 2122866"/>
              <a:gd name="connsiteY3" fmla="*/ 1523392 h 1523395"/>
              <a:gd name="connsiteX4" fmla="*/ 0 w 2122866"/>
              <a:gd name="connsiteY4" fmla="*/ 1523395 h 1523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2866" h="1523395">
                <a:moveTo>
                  <a:pt x="0" y="1523395"/>
                </a:moveTo>
                <a:lnTo>
                  <a:pt x="377132" y="14869"/>
                </a:lnTo>
                <a:lnTo>
                  <a:pt x="2099585" y="0"/>
                </a:lnTo>
                <a:lnTo>
                  <a:pt x="2122866" y="1523392"/>
                </a:lnTo>
                <a:lnTo>
                  <a:pt x="0" y="1523395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BD750736-9EC5-B0B4-3215-E1C8252CBA51}"/>
              </a:ext>
            </a:extLst>
          </p:cNvPr>
          <p:cNvSpPr/>
          <p:nvPr/>
        </p:nvSpPr>
        <p:spPr>
          <a:xfrm>
            <a:off x="0" y="1015168"/>
            <a:ext cx="12693112" cy="45719"/>
          </a:xfrm>
          <a:prstGeom prst="roundRect">
            <a:avLst/>
          </a:prstGeom>
          <a:gradFill flip="none" rotWithShape="1">
            <a:gsLst>
              <a:gs pos="0">
                <a:srgbClr val="FF0000"/>
              </a:gs>
              <a:gs pos="27000">
                <a:srgbClr val="E77179"/>
              </a:gs>
              <a:gs pos="90000">
                <a:srgbClr val="0066FF"/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3">
            <a:extLst>
              <a:ext uri="{FF2B5EF4-FFF2-40B4-BE49-F238E27FC236}">
                <a16:creationId xmlns:a16="http://schemas.microsoft.com/office/drawing/2014/main" id="{8F2E597B-C54F-0A2F-0C36-980BB8E5F581}"/>
              </a:ext>
            </a:extLst>
          </p:cNvPr>
          <p:cNvSpPr/>
          <p:nvPr/>
        </p:nvSpPr>
        <p:spPr>
          <a:xfrm flipH="1">
            <a:off x="-1" y="6351744"/>
            <a:ext cx="7280119" cy="50625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32826" h="1508526">
                <a:moveTo>
                  <a:pt x="0" y="1508526"/>
                </a:moveTo>
                <a:lnTo>
                  <a:pt x="377132" y="0"/>
                </a:lnTo>
                <a:lnTo>
                  <a:pt x="6332826" y="77491"/>
                </a:lnTo>
                <a:lnTo>
                  <a:pt x="6327654" y="1508526"/>
                </a:lnTo>
                <a:lnTo>
                  <a:pt x="0" y="1508526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A1FA1172-2AB4-6046-8666-2938F2C11952}"/>
              </a:ext>
            </a:extLst>
          </p:cNvPr>
          <p:cNvSpPr txBox="1"/>
          <p:nvPr/>
        </p:nvSpPr>
        <p:spPr>
          <a:xfrm>
            <a:off x="186360" y="6420206"/>
            <a:ext cx="6879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rebuchet MS" panose="020B0603020202020204" pitchFamily="34" charset="0"/>
              </a:rPr>
              <a:t>Department of Computer Engineering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C6BB327-0B36-BA04-0BDE-514510EF1622}"/>
              </a:ext>
            </a:extLst>
          </p:cNvPr>
          <p:cNvSpPr txBox="1"/>
          <p:nvPr/>
        </p:nvSpPr>
        <p:spPr>
          <a:xfrm>
            <a:off x="7653397" y="6425917"/>
            <a:ext cx="2755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https://www.nmiet.edu.in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8E157EA3-9F90-92C6-F14A-76F9EBD0807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68" t="20009" r="17839" b="24808"/>
          <a:stretch/>
        </p:blipFill>
        <p:spPr>
          <a:xfrm>
            <a:off x="7314815" y="6472880"/>
            <a:ext cx="334753" cy="316658"/>
          </a:xfrm>
          <a:prstGeom prst="rect">
            <a:avLst/>
          </a:prstGeom>
        </p:spPr>
      </p:pic>
      <p:sp>
        <p:nvSpPr>
          <p:cNvPr id="16" name="Google Shape;45;p1">
            <a:extLst>
              <a:ext uri="{FF2B5EF4-FFF2-40B4-BE49-F238E27FC236}">
                <a16:creationId xmlns:a16="http://schemas.microsoft.com/office/drawing/2014/main" id="{80F6E1A2-F81B-06C3-AF0C-63027BA8D3D2}"/>
              </a:ext>
            </a:extLst>
          </p:cNvPr>
          <p:cNvSpPr txBox="1"/>
          <p:nvPr/>
        </p:nvSpPr>
        <p:spPr>
          <a:xfrm>
            <a:off x="3578165" y="48630"/>
            <a:ext cx="5536782" cy="321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algn="ctr" defTabSz="914400">
              <a:buClr>
                <a:srgbClr val="000000"/>
              </a:buClr>
            </a:pPr>
            <a:r>
              <a:rPr lang="en-US" sz="2000" b="1" kern="0" dirty="0">
                <a:solidFill>
                  <a:srgbClr val="C00000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Nutan Maharashtra Vidya Prasarak Mandal's</a:t>
            </a:r>
            <a:endParaRPr sz="2000" kern="0" dirty="0">
              <a:solidFill>
                <a:srgbClr val="C00000"/>
              </a:solidFill>
              <a:latin typeface="Trebuchet MS" panose="020B0603020202020204" pitchFamily="34" charset="0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46;p1">
            <a:extLst>
              <a:ext uri="{FF2B5EF4-FFF2-40B4-BE49-F238E27FC236}">
                <a16:creationId xmlns:a16="http://schemas.microsoft.com/office/drawing/2014/main" id="{60927D9B-6A6B-DE84-F5A9-F68BE918ABAB}"/>
              </a:ext>
            </a:extLst>
          </p:cNvPr>
          <p:cNvSpPr txBox="1">
            <a:spLocks/>
          </p:cNvSpPr>
          <p:nvPr/>
        </p:nvSpPr>
        <p:spPr>
          <a:xfrm>
            <a:off x="1718118" y="511377"/>
            <a:ext cx="8890004" cy="2904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R="5080" algn="ctr" defTabSz="914400"/>
            <a:r>
              <a:rPr lang="en-US" sz="1800" b="1" kern="0" dirty="0">
                <a:solidFill>
                  <a:srgbClr val="002060"/>
                </a:solidFill>
                <a:latin typeface="Trebuchet MS" panose="020B0603020202020204" pitchFamily="34" charset="0"/>
              </a:rPr>
              <a:t>NUTAN MAHARASHTRA INSTITUTE OF ENGINEERING &amp; TECHNOLOGY, PUNE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ABE18696-7CAC-0223-BF4E-82EEE9E07EBE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260"/>
          <a:stretch/>
        </p:blipFill>
        <p:spPr>
          <a:xfrm>
            <a:off x="289977" y="75380"/>
            <a:ext cx="873805" cy="855689"/>
          </a:xfrm>
          <a:prstGeom prst="rect">
            <a:avLst/>
          </a:prstGeom>
        </p:spPr>
      </p:pic>
      <p:pic>
        <p:nvPicPr>
          <p:cNvPr id="15" name="Picture 2" descr="PCET Trust Logo">
            <a:extLst>
              <a:ext uri="{FF2B5EF4-FFF2-40B4-BE49-F238E27FC236}">
                <a16:creationId xmlns:a16="http://schemas.microsoft.com/office/drawing/2014/main" id="{344003B0-EC7B-ADAD-DA02-08441337186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84"/>
          <a:stretch/>
        </p:blipFill>
        <p:spPr bwMode="auto">
          <a:xfrm>
            <a:off x="11174681" y="112598"/>
            <a:ext cx="827038" cy="85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D3E6A8F-09CD-6A49-9731-5F40E10A9C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z="1600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11</a:t>
            </a:fld>
            <a:endParaRPr lang="en-US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43B49C22-E23A-1A0C-9CF8-DA0D6E8D07B5}"/>
              </a:ext>
            </a:extLst>
          </p:cNvPr>
          <p:cNvGrpSpPr/>
          <p:nvPr/>
        </p:nvGrpSpPr>
        <p:grpSpPr>
          <a:xfrm>
            <a:off x="10002575" y="1496749"/>
            <a:ext cx="2951499" cy="4236154"/>
            <a:chOff x="9684743" y="1095259"/>
            <a:chExt cx="3874878" cy="4769414"/>
          </a:xfrm>
          <a:blipFill dpi="0" rotWithShape="1">
            <a:blip r:embed="rId5">
              <a:alphaModFix amt="39000"/>
            </a:blip>
            <a:srcRect/>
            <a:stretch>
              <a:fillRect/>
            </a:stretch>
          </a:blipFill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8CCAD101-C802-1924-3624-2D88C98AB604}"/>
                </a:ext>
              </a:extLst>
            </p:cNvPr>
            <p:cNvGrpSpPr/>
            <p:nvPr/>
          </p:nvGrpSpPr>
          <p:grpSpPr>
            <a:xfrm>
              <a:off x="9684743" y="1095259"/>
              <a:ext cx="3874878" cy="3328889"/>
              <a:chOff x="9467767" y="1405229"/>
              <a:chExt cx="3874878" cy="3328889"/>
            </a:xfrm>
            <a:grp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3E3B5FF2-C7F8-5BAF-1B43-C7DF34A51349}"/>
                  </a:ext>
                </a:extLst>
              </p:cNvPr>
              <p:cNvSpPr/>
              <p:nvPr/>
            </p:nvSpPr>
            <p:spPr>
              <a:xfrm rot="20333433">
                <a:off x="10503919" y="14052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BF085D52-B4BC-773D-9DAB-27E848C81171}"/>
                  </a:ext>
                </a:extLst>
              </p:cNvPr>
              <p:cNvSpPr/>
              <p:nvPr/>
            </p:nvSpPr>
            <p:spPr>
              <a:xfrm rot="20333433">
                <a:off x="9467767" y="2806885"/>
                <a:ext cx="3413826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A7A7DACD-501D-6AF8-E664-3322D4287BA1}"/>
                  </a:ext>
                </a:extLst>
              </p:cNvPr>
              <p:cNvSpPr/>
              <p:nvPr/>
            </p:nvSpPr>
            <p:spPr>
              <a:xfrm rot="20333433">
                <a:off x="10660793" y="37545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EA41CC77-E1E2-08C8-13B5-20C2C1EDC716}"/>
                </a:ext>
              </a:extLst>
            </p:cNvPr>
            <p:cNvSpPr/>
            <p:nvPr/>
          </p:nvSpPr>
          <p:spPr>
            <a:xfrm rot="20333433">
              <a:off x="9837143" y="4885084"/>
              <a:ext cx="3413826" cy="97958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60572E31-80FD-42BD-30A7-6C3CA5B9C3AF}"/>
              </a:ext>
            </a:extLst>
          </p:cNvPr>
          <p:cNvSpPr txBox="1"/>
          <p:nvPr/>
        </p:nvSpPr>
        <p:spPr>
          <a:xfrm>
            <a:off x="674182" y="1613502"/>
            <a:ext cx="9156324" cy="353943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800" b="1" i="0" dirty="0">
                <a:effectLst/>
                <a:latin typeface="fkGrotesk"/>
              </a:rPr>
              <a:t>Conclusion</a:t>
            </a:r>
          </a:p>
          <a:p>
            <a:pPr algn="l">
              <a:buNone/>
            </a:pPr>
            <a:endParaRPr lang="en-US" sz="2800" b="1" i="0" dirty="0">
              <a:effectLst/>
              <a:latin typeface="fkGrotesk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800" b="0" i="0" dirty="0">
                <a:effectLst/>
                <a:latin typeface="fkGroteskNeue"/>
              </a:rPr>
              <a:t> Deepfakes will keep getting better and harder to spot.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2800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800" b="0" i="0" dirty="0">
                <a:effectLst/>
                <a:latin typeface="fkGroteskNeue"/>
              </a:rPr>
              <a:t> We need smart and quick ways to catch them.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2800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800" b="0" i="0" dirty="0">
                <a:effectLst/>
                <a:latin typeface="fkGroteskNeue"/>
              </a:rPr>
              <a:t> Both generation and detection will improve and challenge </a:t>
            </a:r>
          </a:p>
          <a:p>
            <a:pPr algn="l"/>
            <a:r>
              <a:rPr lang="en-US" sz="2800" dirty="0">
                <a:latin typeface="fkGroteskNeue"/>
              </a:rPr>
              <a:t>   </a:t>
            </a:r>
            <a:r>
              <a:rPr lang="en-US" sz="2800" b="0" i="0" dirty="0">
                <a:effectLst/>
                <a:latin typeface="fkGroteskNeue"/>
              </a:rPr>
              <a:t>each other.</a:t>
            </a:r>
          </a:p>
        </p:txBody>
      </p:sp>
    </p:spTree>
    <p:extLst>
      <p:ext uri="{BB962C8B-B14F-4D97-AF65-F5344CB8AC3E}">
        <p14:creationId xmlns:p14="http://schemas.microsoft.com/office/powerpoint/2010/main" val="166834733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FF3D4B-B0DE-7D8A-E854-19F2ABFF5D7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arallelogram 3">
            <a:extLst>
              <a:ext uri="{FF2B5EF4-FFF2-40B4-BE49-F238E27FC236}">
                <a16:creationId xmlns:a16="http://schemas.microsoft.com/office/drawing/2014/main" id="{D8267BAC-BB3C-1487-0F89-78F2CCC05698}"/>
              </a:ext>
            </a:extLst>
          </p:cNvPr>
          <p:cNvSpPr/>
          <p:nvPr/>
        </p:nvSpPr>
        <p:spPr>
          <a:xfrm flipV="1">
            <a:off x="9830506" y="6351744"/>
            <a:ext cx="2387680" cy="51124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2053969 w 6332826"/>
              <a:gd name="connsiteY3" fmla="*/ 1462343 h 1508526"/>
              <a:gd name="connsiteX4" fmla="*/ 0 w 6332826"/>
              <a:gd name="connsiteY4" fmla="*/ 1508526 h 1508526"/>
              <a:gd name="connsiteX0" fmla="*/ 0 w 2099585"/>
              <a:gd name="connsiteY0" fmla="*/ 1523395 h 1523395"/>
              <a:gd name="connsiteX1" fmla="*/ 377132 w 2099585"/>
              <a:gd name="connsiteY1" fmla="*/ 14869 h 1523395"/>
              <a:gd name="connsiteX2" fmla="*/ 2099585 w 2099585"/>
              <a:gd name="connsiteY2" fmla="*/ 0 h 1523395"/>
              <a:gd name="connsiteX3" fmla="*/ 2053969 w 2099585"/>
              <a:gd name="connsiteY3" fmla="*/ 1477212 h 1523395"/>
              <a:gd name="connsiteX4" fmla="*/ 0 w 2099585"/>
              <a:gd name="connsiteY4" fmla="*/ 1523395 h 1523395"/>
              <a:gd name="connsiteX0" fmla="*/ 0 w 2122866"/>
              <a:gd name="connsiteY0" fmla="*/ 1523395 h 1523395"/>
              <a:gd name="connsiteX1" fmla="*/ 377132 w 2122866"/>
              <a:gd name="connsiteY1" fmla="*/ 14869 h 1523395"/>
              <a:gd name="connsiteX2" fmla="*/ 2099585 w 2122866"/>
              <a:gd name="connsiteY2" fmla="*/ 0 h 1523395"/>
              <a:gd name="connsiteX3" fmla="*/ 2122866 w 2122866"/>
              <a:gd name="connsiteY3" fmla="*/ 1523392 h 1523395"/>
              <a:gd name="connsiteX4" fmla="*/ 0 w 2122866"/>
              <a:gd name="connsiteY4" fmla="*/ 1523395 h 1523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2866" h="1523395">
                <a:moveTo>
                  <a:pt x="0" y="1523395"/>
                </a:moveTo>
                <a:lnTo>
                  <a:pt x="377132" y="14869"/>
                </a:lnTo>
                <a:lnTo>
                  <a:pt x="2099585" y="0"/>
                </a:lnTo>
                <a:lnTo>
                  <a:pt x="2122866" y="1523392"/>
                </a:lnTo>
                <a:lnTo>
                  <a:pt x="0" y="1523395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F29A04B2-DB9E-44C8-185A-6C71679D25FF}"/>
              </a:ext>
            </a:extLst>
          </p:cNvPr>
          <p:cNvSpPr/>
          <p:nvPr/>
        </p:nvSpPr>
        <p:spPr>
          <a:xfrm>
            <a:off x="0" y="1015168"/>
            <a:ext cx="12693112" cy="45719"/>
          </a:xfrm>
          <a:prstGeom prst="roundRect">
            <a:avLst/>
          </a:prstGeom>
          <a:gradFill flip="none" rotWithShape="1">
            <a:gsLst>
              <a:gs pos="0">
                <a:srgbClr val="FF0000"/>
              </a:gs>
              <a:gs pos="27000">
                <a:srgbClr val="E77179"/>
              </a:gs>
              <a:gs pos="90000">
                <a:srgbClr val="0066FF"/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3">
            <a:extLst>
              <a:ext uri="{FF2B5EF4-FFF2-40B4-BE49-F238E27FC236}">
                <a16:creationId xmlns:a16="http://schemas.microsoft.com/office/drawing/2014/main" id="{7F29FC96-86EC-E286-6B03-1BC90D76116F}"/>
              </a:ext>
            </a:extLst>
          </p:cNvPr>
          <p:cNvSpPr/>
          <p:nvPr/>
        </p:nvSpPr>
        <p:spPr>
          <a:xfrm flipH="1">
            <a:off x="-1" y="6351744"/>
            <a:ext cx="7280119" cy="50625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32826" h="1508526">
                <a:moveTo>
                  <a:pt x="0" y="1508526"/>
                </a:moveTo>
                <a:lnTo>
                  <a:pt x="377132" y="0"/>
                </a:lnTo>
                <a:lnTo>
                  <a:pt x="6332826" y="77491"/>
                </a:lnTo>
                <a:lnTo>
                  <a:pt x="6327654" y="1508526"/>
                </a:lnTo>
                <a:lnTo>
                  <a:pt x="0" y="1508526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DB302F7-CE9B-49AC-0CD0-52F08CF63776}"/>
              </a:ext>
            </a:extLst>
          </p:cNvPr>
          <p:cNvSpPr txBox="1"/>
          <p:nvPr/>
        </p:nvSpPr>
        <p:spPr>
          <a:xfrm>
            <a:off x="186360" y="6420206"/>
            <a:ext cx="6879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rebuchet MS" panose="020B0603020202020204" pitchFamily="34" charset="0"/>
              </a:rPr>
              <a:t>Department of Computer Engineering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A1BC384F-0684-685B-9F1C-93A46A26615E}"/>
              </a:ext>
            </a:extLst>
          </p:cNvPr>
          <p:cNvSpPr txBox="1"/>
          <p:nvPr/>
        </p:nvSpPr>
        <p:spPr>
          <a:xfrm>
            <a:off x="7653397" y="6425917"/>
            <a:ext cx="2755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https://www.nmiet.edu.in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08C3D59B-BA2B-3684-5EB6-517CACD55C6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68" t="20009" r="17839" b="24808"/>
          <a:stretch/>
        </p:blipFill>
        <p:spPr>
          <a:xfrm>
            <a:off x="7314815" y="6472880"/>
            <a:ext cx="334753" cy="316658"/>
          </a:xfrm>
          <a:prstGeom prst="rect">
            <a:avLst/>
          </a:prstGeom>
        </p:spPr>
      </p:pic>
      <p:sp>
        <p:nvSpPr>
          <p:cNvPr id="16" name="Google Shape;45;p1">
            <a:extLst>
              <a:ext uri="{FF2B5EF4-FFF2-40B4-BE49-F238E27FC236}">
                <a16:creationId xmlns:a16="http://schemas.microsoft.com/office/drawing/2014/main" id="{9F5932DF-EAC2-BC5B-C18C-4D435D97DB32}"/>
              </a:ext>
            </a:extLst>
          </p:cNvPr>
          <p:cNvSpPr txBox="1"/>
          <p:nvPr/>
        </p:nvSpPr>
        <p:spPr>
          <a:xfrm>
            <a:off x="3578165" y="48630"/>
            <a:ext cx="5536782" cy="321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algn="ctr" defTabSz="914400">
              <a:buClr>
                <a:srgbClr val="000000"/>
              </a:buClr>
            </a:pPr>
            <a:r>
              <a:rPr lang="en-US" sz="2000" b="1" kern="0" dirty="0">
                <a:solidFill>
                  <a:srgbClr val="C00000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Nutan Maharashtra Vidya Prasarak Mandal's</a:t>
            </a:r>
            <a:endParaRPr sz="2000" kern="0" dirty="0">
              <a:solidFill>
                <a:srgbClr val="C00000"/>
              </a:solidFill>
              <a:latin typeface="Trebuchet MS" panose="020B0603020202020204" pitchFamily="34" charset="0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46;p1">
            <a:extLst>
              <a:ext uri="{FF2B5EF4-FFF2-40B4-BE49-F238E27FC236}">
                <a16:creationId xmlns:a16="http://schemas.microsoft.com/office/drawing/2014/main" id="{63121692-84CF-DB1A-9D50-7946D7A35C7B}"/>
              </a:ext>
            </a:extLst>
          </p:cNvPr>
          <p:cNvSpPr txBox="1">
            <a:spLocks/>
          </p:cNvSpPr>
          <p:nvPr/>
        </p:nvSpPr>
        <p:spPr>
          <a:xfrm>
            <a:off x="1718118" y="511377"/>
            <a:ext cx="8890004" cy="2904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R="5080" algn="ctr" defTabSz="914400"/>
            <a:r>
              <a:rPr lang="en-US" sz="1800" b="1" kern="0" dirty="0">
                <a:solidFill>
                  <a:srgbClr val="002060"/>
                </a:solidFill>
                <a:latin typeface="Trebuchet MS" panose="020B0603020202020204" pitchFamily="34" charset="0"/>
              </a:rPr>
              <a:t>NUTAN MAHARASHTRA INSTITUTE OF ENGINEERING &amp; TECHNOLOGY, PUNE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96FF1508-929C-5C56-148A-6D4AACB09440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260"/>
          <a:stretch/>
        </p:blipFill>
        <p:spPr>
          <a:xfrm>
            <a:off x="289977" y="75380"/>
            <a:ext cx="873805" cy="855689"/>
          </a:xfrm>
          <a:prstGeom prst="rect">
            <a:avLst/>
          </a:prstGeom>
        </p:spPr>
      </p:pic>
      <p:pic>
        <p:nvPicPr>
          <p:cNvPr id="15" name="Picture 2" descr="PCET Trust Logo">
            <a:extLst>
              <a:ext uri="{FF2B5EF4-FFF2-40B4-BE49-F238E27FC236}">
                <a16:creationId xmlns:a16="http://schemas.microsoft.com/office/drawing/2014/main" id="{FAF78E08-EFE8-0FF7-2DC6-2DDEBBAFAED4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84"/>
          <a:stretch/>
        </p:blipFill>
        <p:spPr bwMode="auto">
          <a:xfrm>
            <a:off x="11174681" y="112598"/>
            <a:ext cx="827038" cy="85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6D163404-82CC-4A32-DAF8-CFFB0EF0E3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z="1600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12</a:t>
            </a:fld>
            <a:endParaRPr lang="en-US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9B58202A-5A5D-9711-A10B-D2B9BFB32873}"/>
              </a:ext>
            </a:extLst>
          </p:cNvPr>
          <p:cNvGrpSpPr/>
          <p:nvPr/>
        </p:nvGrpSpPr>
        <p:grpSpPr>
          <a:xfrm>
            <a:off x="10002575" y="1496749"/>
            <a:ext cx="2951499" cy="4236154"/>
            <a:chOff x="9684743" y="1095259"/>
            <a:chExt cx="3874878" cy="4769414"/>
          </a:xfrm>
          <a:blipFill dpi="0" rotWithShape="1">
            <a:blip r:embed="rId5">
              <a:alphaModFix amt="39000"/>
            </a:blip>
            <a:srcRect/>
            <a:stretch>
              <a:fillRect/>
            </a:stretch>
          </a:blipFill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9E88FF44-9BF7-F9D7-CB1C-D0C9FDFDC509}"/>
                </a:ext>
              </a:extLst>
            </p:cNvPr>
            <p:cNvGrpSpPr/>
            <p:nvPr/>
          </p:nvGrpSpPr>
          <p:grpSpPr>
            <a:xfrm>
              <a:off x="9684743" y="1095259"/>
              <a:ext cx="3874878" cy="3328889"/>
              <a:chOff x="9467767" y="1405229"/>
              <a:chExt cx="3874878" cy="3328889"/>
            </a:xfrm>
            <a:grp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B051A50D-718F-4910-5047-A7FD855BFD57}"/>
                  </a:ext>
                </a:extLst>
              </p:cNvPr>
              <p:cNvSpPr/>
              <p:nvPr/>
            </p:nvSpPr>
            <p:spPr>
              <a:xfrm rot="20333433">
                <a:off x="10503919" y="14052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2BC87C0D-B724-CA4E-B8A9-2DDEEBEC848C}"/>
                  </a:ext>
                </a:extLst>
              </p:cNvPr>
              <p:cNvSpPr/>
              <p:nvPr/>
            </p:nvSpPr>
            <p:spPr>
              <a:xfrm rot="20333433">
                <a:off x="9467767" y="2806885"/>
                <a:ext cx="3413826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47C7E595-83AD-D8EE-BD43-877F646E042F}"/>
                  </a:ext>
                </a:extLst>
              </p:cNvPr>
              <p:cNvSpPr/>
              <p:nvPr/>
            </p:nvSpPr>
            <p:spPr>
              <a:xfrm rot="20333433">
                <a:off x="10660793" y="37545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A96E9525-4AA2-F8B1-B409-20D269300654}"/>
                </a:ext>
              </a:extLst>
            </p:cNvPr>
            <p:cNvSpPr/>
            <p:nvPr/>
          </p:nvSpPr>
          <p:spPr>
            <a:xfrm rot="20333433">
              <a:off x="9837143" y="4885084"/>
              <a:ext cx="3413826" cy="97958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AC70E10F-2915-D46C-57A7-C1F37F3CB3B3}"/>
              </a:ext>
            </a:extLst>
          </p:cNvPr>
          <p:cNvSpPr txBox="1"/>
          <p:nvPr/>
        </p:nvSpPr>
        <p:spPr>
          <a:xfrm>
            <a:off x="674182" y="1613502"/>
            <a:ext cx="9156324" cy="347787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800" b="1" i="0" dirty="0">
                <a:effectLst/>
                <a:latin typeface="fkGrotesk"/>
              </a:rPr>
              <a:t>Future Scope</a:t>
            </a:r>
          </a:p>
          <a:p>
            <a:pPr algn="l"/>
            <a:endParaRPr lang="en-US" sz="2400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fkGroteskNeue"/>
              </a:rPr>
              <a:t> Build stronger, faster detection tools.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fkGroteskNeue"/>
              </a:rPr>
              <a:t> Make detection work for all types of deepfakes.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fkGroteskNeue"/>
              </a:rPr>
              <a:t> Create clearer, larger datasets.</a:t>
            </a:r>
          </a:p>
          <a:p>
            <a:pPr algn="l">
              <a:buFont typeface="Arial" panose="020B0604020202020204" pitchFamily="34" charset="0"/>
              <a:buChar char="•"/>
            </a:pPr>
            <a:endParaRPr lang="en-US" sz="2400" b="0" i="0" dirty="0">
              <a:effectLst/>
              <a:latin typeface="fkGroteskNeue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fkGroteskNeue"/>
              </a:rPr>
              <a:t> Teach people about deepfake risks.</a:t>
            </a:r>
          </a:p>
        </p:txBody>
      </p:sp>
    </p:spTree>
    <p:extLst>
      <p:ext uri="{BB962C8B-B14F-4D97-AF65-F5344CB8AC3E}">
        <p14:creationId xmlns:p14="http://schemas.microsoft.com/office/powerpoint/2010/main" val="325443489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65A8ED3-6FE8-CFD0-D1EF-17F5144E020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Parallelogram 3">
            <a:extLst>
              <a:ext uri="{FF2B5EF4-FFF2-40B4-BE49-F238E27FC236}">
                <a16:creationId xmlns:a16="http://schemas.microsoft.com/office/drawing/2014/main" id="{5D499D97-0DE9-2101-98AA-4C540ABD8C21}"/>
              </a:ext>
            </a:extLst>
          </p:cNvPr>
          <p:cNvSpPr/>
          <p:nvPr/>
        </p:nvSpPr>
        <p:spPr>
          <a:xfrm flipV="1">
            <a:off x="9830506" y="6351744"/>
            <a:ext cx="2387680" cy="51124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2053969 w 6332826"/>
              <a:gd name="connsiteY3" fmla="*/ 1462343 h 1508526"/>
              <a:gd name="connsiteX4" fmla="*/ 0 w 6332826"/>
              <a:gd name="connsiteY4" fmla="*/ 1508526 h 1508526"/>
              <a:gd name="connsiteX0" fmla="*/ 0 w 2099585"/>
              <a:gd name="connsiteY0" fmla="*/ 1523395 h 1523395"/>
              <a:gd name="connsiteX1" fmla="*/ 377132 w 2099585"/>
              <a:gd name="connsiteY1" fmla="*/ 14869 h 1523395"/>
              <a:gd name="connsiteX2" fmla="*/ 2099585 w 2099585"/>
              <a:gd name="connsiteY2" fmla="*/ 0 h 1523395"/>
              <a:gd name="connsiteX3" fmla="*/ 2053969 w 2099585"/>
              <a:gd name="connsiteY3" fmla="*/ 1477212 h 1523395"/>
              <a:gd name="connsiteX4" fmla="*/ 0 w 2099585"/>
              <a:gd name="connsiteY4" fmla="*/ 1523395 h 1523395"/>
              <a:gd name="connsiteX0" fmla="*/ 0 w 2122866"/>
              <a:gd name="connsiteY0" fmla="*/ 1523395 h 1523395"/>
              <a:gd name="connsiteX1" fmla="*/ 377132 w 2122866"/>
              <a:gd name="connsiteY1" fmla="*/ 14869 h 1523395"/>
              <a:gd name="connsiteX2" fmla="*/ 2099585 w 2122866"/>
              <a:gd name="connsiteY2" fmla="*/ 0 h 1523395"/>
              <a:gd name="connsiteX3" fmla="*/ 2122866 w 2122866"/>
              <a:gd name="connsiteY3" fmla="*/ 1523392 h 1523395"/>
              <a:gd name="connsiteX4" fmla="*/ 0 w 2122866"/>
              <a:gd name="connsiteY4" fmla="*/ 1523395 h 152339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2122866" h="1523395">
                <a:moveTo>
                  <a:pt x="0" y="1523395"/>
                </a:moveTo>
                <a:lnTo>
                  <a:pt x="377132" y="14869"/>
                </a:lnTo>
                <a:lnTo>
                  <a:pt x="2099585" y="0"/>
                </a:lnTo>
                <a:lnTo>
                  <a:pt x="2122866" y="1523392"/>
                </a:lnTo>
                <a:lnTo>
                  <a:pt x="0" y="1523395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ounded Rectangle 5">
            <a:extLst>
              <a:ext uri="{FF2B5EF4-FFF2-40B4-BE49-F238E27FC236}">
                <a16:creationId xmlns:a16="http://schemas.microsoft.com/office/drawing/2014/main" id="{2AAFFEBD-4F43-5D1C-AB83-AEBFF94251AA}"/>
              </a:ext>
            </a:extLst>
          </p:cNvPr>
          <p:cNvSpPr/>
          <p:nvPr/>
        </p:nvSpPr>
        <p:spPr>
          <a:xfrm>
            <a:off x="0" y="1015168"/>
            <a:ext cx="12693112" cy="45719"/>
          </a:xfrm>
          <a:prstGeom prst="roundRect">
            <a:avLst/>
          </a:prstGeom>
          <a:gradFill flip="none" rotWithShape="1">
            <a:gsLst>
              <a:gs pos="0">
                <a:srgbClr val="FF0000"/>
              </a:gs>
              <a:gs pos="27000">
                <a:srgbClr val="E77179"/>
              </a:gs>
              <a:gs pos="90000">
                <a:srgbClr val="0066FF"/>
              </a:gs>
            </a:gsLst>
            <a:path path="circle">
              <a:fillToRect l="100000" t="100000"/>
            </a:path>
            <a:tileRect r="-100000" b="-100000"/>
          </a:gra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Parallelogram 3">
            <a:extLst>
              <a:ext uri="{FF2B5EF4-FFF2-40B4-BE49-F238E27FC236}">
                <a16:creationId xmlns:a16="http://schemas.microsoft.com/office/drawing/2014/main" id="{7E3BA8F3-AEB8-A3FD-1A4B-7DDD14D28C6E}"/>
              </a:ext>
            </a:extLst>
          </p:cNvPr>
          <p:cNvSpPr/>
          <p:nvPr/>
        </p:nvSpPr>
        <p:spPr>
          <a:xfrm flipH="1">
            <a:off x="-1" y="6351744"/>
            <a:ext cx="7280119" cy="506256"/>
          </a:xfrm>
          <a:custGeom>
            <a:avLst/>
            <a:gdLst>
              <a:gd name="connsiteX0" fmla="*/ 0 w 6704785"/>
              <a:gd name="connsiteY0" fmla="*/ 1508526 h 1508526"/>
              <a:gd name="connsiteX1" fmla="*/ 377132 w 6704785"/>
              <a:gd name="connsiteY1" fmla="*/ 0 h 1508526"/>
              <a:gd name="connsiteX2" fmla="*/ 6704785 w 6704785"/>
              <a:gd name="connsiteY2" fmla="*/ 0 h 1508526"/>
              <a:gd name="connsiteX3" fmla="*/ 6327654 w 6704785"/>
              <a:gd name="connsiteY3" fmla="*/ 1508526 h 1508526"/>
              <a:gd name="connsiteX4" fmla="*/ 0 w 6704785"/>
              <a:gd name="connsiteY4" fmla="*/ 1508526 h 1508526"/>
              <a:gd name="connsiteX0" fmla="*/ 0 w 6332826"/>
              <a:gd name="connsiteY0" fmla="*/ 1508526 h 1508526"/>
              <a:gd name="connsiteX1" fmla="*/ 377132 w 6332826"/>
              <a:gd name="connsiteY1" fmla="*/ 0 h 1508526"/>
              <a:gd name="connsiteX2" fmla="*/ 6332826 w 6332826"/>
              <a:gd name="connsiteY2" fmla="*/ 77491 h 1508526"/>
              <a:gd name="connsiteX3" fmla="*/ 6327654 w 6332826"/>
              <a:gd name="connsiteY3" fmla="*/ 1508526 h 1508526"/>
              <a:gd name="connsiteX4" fmla="*/ 0 w 6332826"/>
              <a:gd name="connsiteY4" fmla="*/ 1508526 h 150852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6332826" h="1508526">
                <a:moveTo>
                  <a:pt x="0" y="1508526"/>
                </a:moveTo>
                <a:lnTo>
                  <a:pt x="377132" y="0"/>
                </a:lnTo>
                <a:lnTo>
                  <a:pt x="6332826" y="77491"/>
                </a:lnTo>
                <a:lnTo>
                  <a:pt x="6327654" y="1508526"/>
                </a:lnTo>
                <a:lnTo>
                  <a:pt x="0" y="1508526"/>
                </a:lnTo>
                <a:close/>
              </a:path>
            </a:pathLst>
          </a:custGeom>
          <a:gradFill flip="none" rotWithShape="1">
            <a:gsLst>
              <a:gs pos="0">
                <a:srgbClr val="C00000">
                  <a:shade val="30000"/>
                  <a:satMod val="115000"/>
                </a:srgbClr>
              </a:gs>
              <a:gs pos="50000">
                <a:srgbClr val="C00000">
                  <a:shade val="67500"/>
                  <a:satMod val="115000"/>
                </a:srgbClr>
              </a:gs>
              <a:gs pos="100000">
                <a:srgbClr val="C00000">
                  <a:shade val="100000"/>
                  <a:satMod val="115000"/>
                </a:srgbClr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E71AFC87-2AF7-162C-7593-960EDE8F0996}"/>
              </a:ext>
            </a:extLst>
          </p:cNvPr>
          <p:cNvSpPr txBox="1"/>
          <p:nvPr/>
        </p:nvSpPr>
        <p:spPr>
          <a:xfrm>
            <a:off x="186360" y="6420206"/>
            <a:ext cx="687945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b="1" dirty="0">
                <a:solidFill>
                  <a:schemeClr val="bg1"/>
                </a:solidFill>
                <a:latin typeface="Trebuchet MS" panose="020B0603020202020204" pitchFamily="34" charset="0"/>
              </a:rPr>
              <a:t>Department of Computer Engineering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6948A198-A12B-DFCA-3CC0-4FFB52BACBC7}"/>
              </a:ext>
            </a:extLst>
          </p:cNvPr>
          <p:cNvSpPr txBox="1"/>
          <p:nvPr/>
        </p:nvSpPr>
        <p:spPr>
          <a:xfrm>
            <a:off x="7653397" y="6425917"/>
            <a:ext cx="2755064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600" b="1" dirty="0">
                <a:latin typeface="Times New Roman" panose="02020603050405020304" pitchFamily="18" charset="0"/>
                <a:cs typeface="Times New Roman" panose="02020603050405020304" pitchFamily="18" charset="0"/>
              </a:rPr>
              <a:t>https://www.nmiet.edu.in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26B61D65-848C-26CB-B876-D4531BB3E5F5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9968" t="20009" r="17839" b="24808"/>
          <a:stretch/>
        </p:blipFill>
        <p:spPr>
          <a:xfrm>
            <a:off x="7314815" y="6472880"/>
            <a:ext cx="334753" cy="316658"/>
          </a:xfrm>
          <a:prstGeom prst="rect">
            <a:avLst/>
          </a:prstGeom>
        </p:spPr>
      </p:pic>
      <p:sp>
        <p:nvSpPr>
          <p:cNvPr id="16" name="Google Shape;45;p1">
            <a:extLst>
              <a:ext uri="{FF2B5EF4-FFF2-40B4-BE49-F238E27FC236}">
                <a16:creationId xmlns:a16="http://schemas.microsoft.com/office/drawing/2014/main" id="{35870A1C-9F39-4B66-6861-AB69088D49BF}"/>
              </a:ext>
            </a:extLst>
          </p:cNvPr>
          <p:cNvSpPr txBox="1"/>
          <p:nvPr/>
        </p:nvSpPr>
        <p:spPr>
          <a:xfrm>
            <a:off x="3578165" y="48630"/>
            <a:ext cx="5536782" cy="32123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t" anchorCtr="0">
            <a:spAutoFit/>
          </a:bodyPr>
          <a:lstStyle/>
          <a:p>
            <a:pPr marL="12700" algn="ctr" defTabSz="914400">
              <a:buClr>
                <a:srgbClr val="000000"/>
              </a:buClr>
            </a:pPr>
            <a:r>
              <a:rPr lang="en-US" sz="2000" b="1" kern="0" dirty="0">
                <a:solidFill>
                  <a:srgbClr val="C00000"/>
                </a:solidFill>
                <a:latin typeface="Trebuchet MS" panose="020B0603020202020204" pitchFamily="34" charset="0"/>
                <a:ea typeface="Calibri"/>
                <a:cs typeface="Calibri"/>
                <a:sym typeface="Calibri"/>
              </a:rPr>
              <a:t>Nutan Maharashtra Vidya Prasarak Mandal's</a:t>
            </a:r>
            <a:endParaRPr sz="2000" kern="0" dirty="0">
              <a:solidFill>
                <a:srgbClr val="C00000"/>
              </a:solidFill>
              <a:latin typeface="Trebuchet MS" panose="020B0603020202020204" pitchFamily="34" charset="0"/>
              <a:ea typeface="Calibri"/>
              <a:cs typeface="Calibri"/>
              <a:sym typeface="Calibri"/>
            </a:endParaRPr>
          </a:p>
        </p:txBody>
      </p:sp>
      <p:sp>
        <p:nvSpPr>
          <p:cNvPr id="17" name="Google Shape;46;p1">
            <a:extLst>
              <a:ext uri="{FF2B5EF4-FFF2-40B4-BE49-F238E27FC236}">
                <a16:creationId xmlns:a16="http://schemas.microsoft.com/office/drawing/2014/main" id="{2F041872-B3A6-40F1-0F3D-A4AB99E67040}"/>
              </a:ext>
            </a:extLst>
          </p:cNvPr>
          <p:cNvSpPr txBox="1">
            <a:spLocks/>
          </p:cNvSpPr>
          <p:nvPr/>
        </p:nvSpPr>
        <p:spPr>
          <a:xfrm>
            <a:off x="1718118" y="511377"/>
            <a:ext cx="8890004" cy="29045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13325" rIns="0" bIns="0" anchor="ctr" anchorCtr="0">
            <a:sp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Font typeface="Arial"/>
              <a:defRPr sz="14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marR="5080" algn="ctr" defTabSz="914400"/>
            <a:r>
              <a:rPr lang="en-US" sz="1800" b="1" kern="0" dirty="0">
                <a:solidFill>
                  <a:srgbClr val="002060"/>
                </a:solidFill>
                <a:latin typeface="Trebuchet MS" panose="020B0603020202020204" pitchFamily="34" charset="0"/>
              </a:rPr>
              <a:t>NUTAN MAHARASHTRA INSTITUTE OF ENGINEERING &amp; TECHNOLOGY, PUNE</a:t>
            </a: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1402386F-991C-F71B-7B1D-D0A8C729C34D}"/>
              </a:ext>
            </a:extLst>
          </p:cNvPr>
          <p:cNvPicPr>
            <a:picLocks noChangeAspect="1"/>
          </p:cNvPicPr>
          <p:nvPr/>
        </p:nvPicPr>
        <p:blipFill rotWithShape="1">
          <a:blip r:embed="rId3"/>
          <a:srcRect r="50260"/>
          <a:stretch/>
        </p:blipFill>
        <p:spPr>
          <a:xfrm>
            <a:off x="289977" y="75380"/>
            <a:ext cx="873805" cy="855689"/>
          </a:xfrm>
          <a:prstGeom prst="rect">
            <a:avLst/>
          </a:prstGeom>
        </p:spPr>
      </p:pic>
      <p:pic>
        <p:nvPicPr>
          <p:cNvPr id="15" name="Picture 2" descr="PCET Trust Logo">
            <a:extLst>
              <a:ext uri="{FF2B5EF4-FFF2-40B4-BE49-F238E27FC236}">
                <a16:creationId xmlns:a16="http://schemas.microsoft.com/office/drawing/2014/main" id="{D6659A5A-C730-A5A0-A7AD-7F39A1A5CF6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2984"/>
          <a:stretch/>
        </p:blipFill>
        <p:spPr bwMode="auto">
          <a:xfrm>
            <a:off x="11174681" y="112598"/>
            <a:ext cx="827038" cy="85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137B18BB-BAD5-E11C-7741-ADD88B781AB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693619D-74A4-489F-B67E-0DFC94E90F31}" type="slidenum">
              <a:rPr lang="en-US" sz="1600" b="1" smtClean="0">
                <a:solidFill>
                  <a:schemeClr val="bg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13</a:t>
            </a:fld>
            <a:endParaRPr lang="en-US" sz="1600" b="1" dirty="0">
              <a:solidFill>
                <a:schemeClr val="bg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pSp>
        <p:nvGrpSpPr>
          <p:cNvPr id="26" name="Group 25">
            <a:extLst>
              <a:ext uri="{FF2B5EF4-FFF2-40B4-BE49-F238E27FC236}">
                <a16:creationId xmlns:a16="http://schemas.microsoft.com/office/drawing/2014/main" id="{617837A1-7CF2-71AE-F3F1-B89AE756441E}"/>
              </a:ext>
            </a:extLst>
          </p:cNvPr>
          <p:cNvGrpSpPr/>
          <p:nvPr/>
        </p:nvGrpSpPr>
        <p:grpSpPr>
          <a:xfrm>
            <a:off x="10002575" y="1496749"/>
            <a:ext cx="2951499" cy="4236154"/>
            <a:chOff x="9684743" y="1095259"/>
            <a:chExt cx="3874878" cy="4769414"/>
          </a:xfrm>
          <a:blipFill dpi="0" rotWithShape="1">
            <a:blip r:embed="rId5">
              <a:alphaModFix amt="39000"/>
            </a:blip>
            <a:srcRect/>
            <a:stretch>
              <a:fillRect/>
            </a:stretch>
          </a:blipFill>
        </p:grpSpPr>
        <p:grpSp>
          <p:nvGrpSpPr>
            <p:cNvPr id="24" name="Group 23">
              <a:extLst>
                <a:ext uri="{FF2B5EF4-FFF2-40B4-BE49-F238E27FC236}">
                  <a16:creationId xmlns:a16="http://schemas.microsoft.com/office/drawing/2014/main" id="{3B2C28A2-BEA8-CF19-7F0E-E272D4E3B7F7}"/>
                </a:ext>
              </a:extLst>
            </p:cNvPr>
            <p:cNvGrpSpPr/>
            <p:nvPr/>
          </p:nvGrpSpPr>
          <p:grpSpPr>
            <a:xfrm>
              <a:off x="9684743" y="1095259"/>
              <a:ext cx="3874878" cy="3328889"/>
              <a:chOff x="9467767" y="1405229"/>
              <a:chExt cx="3874878" cy="3328889"/>
            </a:xfrm>
            <a:grpFill/>
          </p:grpSpPr>
          <p:sp>
            <p:nvSpPr>
              <p:cNvPr id="7" name="Rectangle 6">
                <a:extLst>
                  <a:ext uri="{FF2B5EF4-FFF2-40B4-BE49-F238E27FC236}">
                    <a16:creationId xmlns:a16="http://schemas.microsoft.com/office/drawing/2014/main" id="{A2ED76A6-64B2-BA66-44BF-6F4862CA4DDA}"/>
                  </a:ext>
                </a:extLst>
              </p:cNvPr>
              <p:cNvSpPr/>
              <p:nvPr/>
            </p:nvSpPr>
            <p:spPr>
              <a:xfrm rot="20333433">
                <a:off x="10503919" y="14052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0" name="Rectangle 19">
                <a:extLst>
                  <a:ext uri="{FF2B5EF4-FFF2-40B4-BE49-F238E27FC236}">
                    <a16:creationId xmlns:a16="http://schemas.microsoft.com/office/drawing/2014/main" id="{0D95C89D-3E52-E6FF-04C5-BCDDD4397269}"/>
                  </a:ext>
                </a:extLst>
              </p:cNvPr>
              <p:cNvSpPr/>
              <p:nvPr/>
            </p:nvSpPr>
            <p:spPr>
              <a:xfrm rot="20333433">
                <a:off x="9467767" y="2806885"/>
                <a:ext cx="3413826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sp>
            <p:nvSpPr>
              <p:cNvPr id="23" name="Rectangle 22">
                <a:extLst>
                  <a:ext uri="{FF2B5EF4-FFF2-40B4-BE49-F238E27FC236}">
                    <a16:creationId xmlns:a16="http://schemas.microsoft.com/office/drawing/2014/main" id="{F81B996E-F920-72F1-FFE2-FEF5F78F1190}"/>
                  </a:ext>
                </a:extLst>
              </p:cNvPr>
              <p:cNvSpPr/>
              <p:nvPr/>
            </p:nvSpPr>
            <p:spPr>
              <a:xfrm rot="20333433">
                <a:off x="10660793" y="3754529"/>
                <a:ext cx="2681852" cy="979589"/>
              </a:xfrm>
              <a:prstGeom prst="rect">
                <a:avLst/>
              </a:prstGeom>
              <a:grpFill/>
              <a:ln>
                <a:noFill/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p:sp>
          <p:nvSpPr>
            <p:cNvPr id="25" name="Rectangle 24">
              <a:extLst>
                <a:ext uri="{FF2B5EF4-FFF2-40B4-BE49-F238E27FC236}">
                  <a16:creationId xmlns:a16="http://schemas.microsoft.com/office/drawing/2014/main" id="{011BBAB5-C237-0976-8D31-29CBB37C9396}"/>
                </a:ext>
              </a:extLst>
            </p:cNvPr>
            <p:cNvSpPr/>
            <p:nvPr/>
          </p:nvSpPr>
          <p:spPr>
            <a:xfrm rot="20333433">
              <a:off x="9837143" y="4885084"/>
              <a:ext cx="3413826" cy="979589"/>
            </a:xfrm>
            <a:prstGeom prst="rect">
              <a:avLst/>
            </a:prstGeom>
            <a:grpFill/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sp>
        <p:nvSpPr>
          <p:cNvPr id="5" name="TextBox 4">
            <a:extLst>
              <a:ext uri="{FF2B5EF4-FFF2-40B4-BE49-F238E27FC236}">
                <a16:creationId xmlns:a16="http://schemas.microsoft.com/office/drawing/2014/main" id="{C40D048A-3C9E-9C02-627A-3EF3FF3A56E6}"/>
              </a:ext>
            </a:extLst>
          </p:cNvPr>
          <p:cNvSpPr txBox="1"/>
          <p:nvPr/>
        </p:nvSpPr>
        <p:spPr>
          <a:xfrm>
            <a:off x="674182" y="1613502"/>
            <a:ext cx="9156324" cy="20621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sz="2800" b="1" i="0" dirty="0">
                <a:effectLst/>
                <a:latin typeface="fkGrotesk"/>
              </a:rPr>
              <a:t>References</a:t>
            </a:r>
          </a:p>
          <a:p>
            <a:pPr algn="l">
              <a:buNone/>
            </a:pPr>
            <a:endParaRPr lang="en-US" sz="2800" b="1" i="0" dirty="0">
              <a:effectLst/>
              <a:latin typeface="fkGrotesk"/>
            </a:endParaRPr>
          </a:p>
          <a:p>
            <a:pPr algn="l">
              <a:buFont typeface="Arial" panose="020B0604020202020204" pitchFamily="34" charset="0"/>
              <a:buChar char="•"/>
            </a:pPr>
            <a:r>
              <a:rPr lang="en-US" sz="2400" b="0" i="0" dirty="0">
                <a:effectLst/>
                <a:latin typeface="fkGroteskNeue"/>
              </a:rPr>
              <a:t> Patel et al., "Deepfake Generation and Detection: Case Study and  </a:t>
            </a:r>
          </a:p>
          <a:p>
            <a:pPr algn="l"/>
            <a:r>
              <a:rPr lang="en-US" sz="2400" dirty="0">
                <a:latin typeface="fkGroteskNeue"/>
              </a:rPr>
              <a:t>   </a:t>
            </a:r>
            <a:r>
              <a:rPr lang="en-US" sz="2400" b="0" i="0" dirty="0">
                <a:effectLst/>
                <a:latin typeface="fkGroteskNeue"/>
              </a:rPr>
              <a:t>Challenges", IEEE Access, 2023</a:t>
            </a:r>
            <a:endParaRPr lang="en-US" altLang="en-US" sz="2400" dirty="0">
              <a:latin typeface="Arial" panose="020B0604020202020204" pitchFamily="34" charset="0"/>
            </a:endParaRPr>
          </a:p>
          <a:p>
            <a:pPr algn="l"/>
            <a:endParaRPr lang="en-US" sz="2400" b="0" i="0" dirty="0">
              <a:effectLst/>
              <a:latin typeface="fkGroteskNeue"/>
            </a:endParaRPr>
          </a:p>
        </p:txBody>
      </p:sp>
    </p:spTree>
    <p:extLst>
      <p:ext uri="{BB962C8B-B14F-4D97-AF65-F5344CB8AC3E}">
        <p14:creationId xmlns:p14="http://schemas.microsoft.com/office/powerpoint/2010/main" val="228960898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431</TotalTime>
  <Words>952</Words>
  <Application>Microsoft Office PowerPoint</Application>
  <PresentationFormat>Widescreen</PresentationFormat>
  <Paragraphs>174</Paragraphs>
  <Slides>13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21" baseType="lpstr">
      <vt:lpstr>Arial</vt:lpstr>
      <vt:lpstr>Calibri</vt:lpstr>
      <vt:lpstr>Calibri Light</vt:lpstr>
      <vt:lpstr>fkGrotesk</vt:lpstr>
      <vt:lpstr>fkGroteskNeue</vt:lpstr>
      <vt:lpstr>Times New Roman</vt:lpstr>
      <vt:lpstr>Trebuchet MS</vt:lpstr>
      <vt:lpstr>Office Theme</vt:lpstr>
      <vt:lpstr>NUTAN MAHARASHTRA INSTITUTE OF ENGINEERING &amp; TECHNOLOGY, PUNE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NUTAN MAHARASHTRA INSTITUTE OF ENGINEERING &amp; TECHNOLOGY, PUNE</dc:title>
  <dc:creator>Windows User</dc:creator>
  <cp:lastModifiedBy>Aniruddha Kalubarme</cp:lastModifiedBy>
  <cp:revision>26</cp:revision>
  <dcterms:created xsi:type="dcterms:W3CDTF">2024-07-16T08:06:34Z</dcterms:created>
  <dcterms:modified xsi:type="dcterms:W3CDTF">2025-10-10T14:09:34Z</dcterms:modified>
</cp:coreProperties>
</file>